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3"/>
    <p:sldMasterId id="2147483903" r:id="rId4"/>
    <p:sldMasterId id="2147483916" r:id="rId5"/>
    <p:sldMasterId id="2147484064" r:id="rId6"/>
    <p:sldMasterId id="2147487406" r:id="rId7"/>
  </p:sldMasterIdLst>
  <p:notesMasterIdLst>
    <p:notesMasterId r:id="rId21"/>
  </p:notesMasterIdLst>
  <p:handoutMasterIdLst>
    <p:handoutMasterId r:id="rId22"/>
  </p:handoutMasterIdLst>
  <p:sldIdLst>
    <p:sldId id="366" r:id="rId8"/>
    <p:sldId id="384" r:id="rId9"/>
    <p:sldId id="385" r:id="rId10"/>
    <p:sldId id="386" r:id="rId11"/>
    <p:sldId id="387" r:id="rId12"/>
    <p:sldId id="389" r:id="rId13"/>
    <p:sldId id="390" r:id="rId14"/>
    <p:sldId id="392" r:id="rId15"/>
    <p:sldId id="393" r:id="rId16"/>
    <p:sldId id="394" r:id="rId17"/>
    <p:sldId id="395" r:id="rId18"/>
    <p:sldId id="396" r:id="rId19"/>
    <p:sldId id="381" r:id="rId20"/>
  </p:sldIdLst>
  <p:sldSz cx="9144000" cy="6858000" type="screen4x3"/>
  <p:notesSz cx="6742113" cy="98726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2">
          <p15:clr>
            <a:srgbClr val="A4A3A4"/>
          </p15:clr>
        </p15:guide>
        <p15:guide id="2" pos="4832">
          <p15:clr>
            <a:srgbClr val="A4A3A4"/>
          </p15:clr>
        </p15:guide>
        <p15:guide id="3" pos="3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ery Wong Poh Siong" initials="" lastIdx="3" clrIdx="0"/>
  <p:cmAuthor id="2" name="Jeffery Wong Poh Siong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E7C"/>
    <a:srgbClr val="F753A9"/>
    <a:srgbClr val="C0504D"/>
    <a:srgbClr val="FF6600"/>
    <a:srgbClr val="F17D00"/>
    <a:srgbClr val="CCFFCC"/>
    <a:srgbClr val="FF99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1988" autoAdjust="0"/>
  </p:normalViewPr>
  <p:slideViewPr>
    <p:cSldViewPr snapToGrid="0">
      <p:cViewPr varScale="1">
        <p:scale>
          <a:sx n="81" d="100"/>
          <a:sy n="81" d="100"/>
        </p:scale>
        <p:origin x="1263" y="48"/>
      </p:cViewPr>
      <p:guideLst>
        <p:guide orient="horz" pos="4262"/>
        <p:guide pos="4832"/>
        <p:guide pos="391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902" y="-114"/>
      </p:cViewPr>
      <p:guideLst>
        <p:guide orient="horz" pos="3110"/>
        <p:guide pos="21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5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AC37006-DF68-1FF1-7784-676882D80F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8ECED98-BD5D-76B2-86B2-AB2F3FC078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760148E1-DA91-06B1-6F35-E9EA7389E6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EA128D04-D210-F831-FB8D-9D93346C7B8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9525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1ABFBEB-6F09-460F-91ED-9D99C2D424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E5A396-3E98-284E-37BC-F6A19C8017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F2B8CE-3CEA-3766-3418-B2DAA1055E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6352D4A2-2E05-0773-D305-3902F62178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39775"/>
            <a:ext cx="4935538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5D7517A-22FE-512A-FBBE-B7989BF369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9475"/>
            <a:ext cx="4945063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EFA67B18-F8C8-7880-4DD8-68D71E9443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29E98D7E-A733-360A-1F90-4EA480FC1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9C6535-24E4-4857-A8EF-FE7AC8EDD1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623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72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66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8C954F-59C7-2111-9218-493FDAB50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D1A2F17-EFE0-4362-9D24-C14A9E470E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46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160" y="228771"/>
            <a:ext cx="6426492" cy="1179422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160" y="1756375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AB4426-0530-3540-4FDA-1C42A3688C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B7085EC-0053-4266-88DD-0AC4652E40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10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93F27F-483A-7902-42D8-07E99D6972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EC17248-C0F3-4FED-8D8A-24BB21991C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57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53" y="236662"/>
            <a:ext cx="6149099" cy="12835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957A-724F-E124-B4A2-DA2AFAFF5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65729D2C-F721-481F-816F-0B528929F3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50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28" y="1886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CCB696-ADE2-56DB-5A27-9C2D7548AF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160C0CB6-4090-44BB-B68D-864E203C1D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68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14" y="220879"/>
            <a:ext cx="6720751" cy="1121601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DE7883-7A15-1066-CD96-37EABE5E3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7801227-9B26-4006-803C-8D7BF75FD7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54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6FD068-B751-5165-E1C3-3AD3FC872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766611D-F785-4BEB-A41E-03B33EC9EF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39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C38C-8A4D-F18B-FFFB-653A4958CA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FE96800-F2D5-432C-88A2-E5FEAE5F17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53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F0921-764C-E672-C54C-69021F4CC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C86C751-B369-4993-AA35-C8D52E7C17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45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649"/>
            <a:ext cx="7052041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B58A2-35DC-6AE3-7754-D0DBF26F15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10A2330-C88E-411A-80D6-B827247AA7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96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561F10-C0EE-22B8-4BC2-937EF956A0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BDC23A6-D1B5-4590-A170-98A4AF81EF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531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F0873A-5239-7BC5-62C6-2781586E0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66A02F2-7CB1-448C-9795-B2C8009524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6196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307641"/>
            <a:ext cx="6726231" cy="1116315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F12D482-B6AE-D0E5-7402-9E09D368D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47483FA-0560-4A01-95E8-3DE4D9E66C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452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B3C7C16-A2AD-F46F-B230-093F2B2EE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104CCB8-58BF-49C0-A502-CB9D6F0FC3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13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2477" y="274638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36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8E14BB-7150-B141-C274-4DFB8EDE49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B6BB74D-A98D-4742-A31F-ABD607335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143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88752" y="306943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2191001-928B-4BAF-D75F-74D5E7C4A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93B70D3-C701-47A5-89E9-9A28F17B6F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656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4528" y="299757"/>
            <a:ext cx="6736527" cy="1161043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2E9707-1142-45CA-33BD-364B59252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48FAFED4-D8BA-4022-A37B-F9AB57BC75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704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0A86A4-6292-3375-8844-41FE63532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64FF924-422B-4C9C-84EA-33D90EE439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73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4A1F43-E913-9FA8-8EAA-37C91A83C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199D33CB-A6BD-4B2B-B866-E46A8776E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432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58F481F-1362-43C4-03A7-2F4B0C4BE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D64987B-BF7F-4CE9-AAF6-6756012874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046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97825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0F1FDC-1546-A6A8-E8EC-9687EC0C06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D48406F-D7E7-42AC-9F9A-C813FFA39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666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97825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0CBC01-EF26-D5AC-D5BE-E49D281384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FFD0C4D-01C3-482C-9064-9266ABFA8F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733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1FA9E55-071B-CAFD-8C79-3875845DF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9539894-A2AD-4EFE-9D38-4084895EBB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491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E7611D-CB50-93B0-7651-BC882F187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946D77D-F691-42AC-BCDC-E2A4453A51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964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217857"/>
            <a:ext cx="6410716" cy="1143000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13EE2BE-A20E-477A-F62B-3F92EF552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DF71CA3-A4B3-49FA-B684-5C59227470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2242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E5F34B-42FF-0CFA-4F46-49AC1B78B7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62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BCF42D0-AC9C-4B30-A165-C8DE68C50F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2568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2477" y="219422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841796-D720-024C-023D-1FF086047F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21087E9-4A12-41C9-85D7-90BB95EA61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027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6640" y="212282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5E84D8-BA3F-9331-3349-8E256A805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62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7C23526-DBAB-44B8-9578-CB1802F201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13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4528" y="212985"/>
            <a:ext cx="6839069" cy="1137377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37255A-E37D-10C5-726B-49FFC2A57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95D4C19-E3C4-44E5-A0DD-3F2B4D313B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4817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A4E66D6-2891-EE9F-49F5-2F4C0DD4E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6DEDF20B-F7FF-4061-824D-57BEBDC0E2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7863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C732C7-7E5D-17C0-D181-3A5EF4B81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50D00FB-176B-4D34-B77E-E7142D11FD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932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2DD730-4DD3-73BE-892A-73A51984DF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F879B359-D5E6-416E-8941-A6D271988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997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3645"/>
            <a:ext cx="6815406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860C56-895F-4213-3A8D-9911851C9E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F8606F6-2893-4BAE-B0A6-35B335CFC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702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784CB0-0160-FF8E-412B-EB7FF7812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2022D81-121A-472E-80BE-670F9F0C71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1978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79D639C-EB42-8BF1-AC07-612D6AF0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80ABC103-A80A-4DF3-89A8-899FAA513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408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228768"/>
            <a:ext cx="6623688" cy="1139981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404040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404040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859D783-D20B-7080-083D-68BBD31B6E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D763EB3C-FA59-460E-909F-A3A4468D0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427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57C475-4F2D-41E5-0A40-1E4DA104EE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276B9510-DF51-480E-A8F1-3C92986081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169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92477" y="274638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FBABE99-58CA-DC61-55A7-DD5F29844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65AC8144-330B-4430-8523-8C3CF713DF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621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802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0EEDCAC-8CBA-2A48-C89F-BF473B1360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CA670110-E9BC-4729-B1B4-FD4BB12A7F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304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88752" y="276094"/>
            <a:ext cx="6578770" cy="1129489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AE762DE-0790-624E-9099-316DEEB66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67F50E29-3DC1-44BB-9580-4B69D5ABF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969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C685134-93DB-0224-2853-5D65890E8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5A1E41B1-4034-4E2F-BEB5-6B4E9D2F93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3515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89AE6CC-FD9F-9D5E-D284-7015ECE22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422FD422-229D-4887-A01D-DA21BD87B8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8547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BC650B-1BB0-5B41-0A6B-A4F165325B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1B117145-AE27-4582-9BEA-2D4D8B4FAD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6613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35207"/>
            <a:ext cx="679963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F893F1-E6DE-DFD1-E69A-C9EBBD2038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1F794D0B-68AB-4526-8FA0-B744A69812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347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2E942F8-AD43-9A03-5245-EE44AB30F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438132F8-FFEB-4C0E-9B56-82AA8F82BD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3303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93E807-DFD6-9EC3-9AC1-DE761C571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8AC5A50-429B-4301-9AA1-D0E05421E1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548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160" y="228771"/>
            <a:ext cx="6426492" cy="1179422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160" y="1756375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DF92D7-D0F8-D829-C148-5094D8E17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882DACD-1501-4140-A7A2-D94A4E8833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0988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9121D3-0293-A4BB-D234-ACF0F8D439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4E201D0-055C-4852-8683-3C7B50CCD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229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53" y="236662"/>
            <a:ext cx="6149099" cy="12835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79AA-8375-714C-537B-988C94C7DC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0772E87-850B-41B2-B920-68B19E2BDE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549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28" y="1886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81C8C1-FB1E-5B95-660E-A6F3AD02CF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DA8B25F2-8364-43D3-8C8C-87326A31D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6835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14" y="220879"/>
            <a:ext cx="6720751" cy="1121601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B1DB06-8480-0BAB-C783-7205077E1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B2FCA30-F36A-4B76-B052-AAB6A778D5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5057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F6C41FD-28F6-2F84-DC69-834A232D6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98F8C75-E995-4CC8-910F-906085E3D9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85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56103-201F-F0E2-814D-77A71C971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7C702B4-8014-4213-8CB5-C481995828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0362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43250-ECC3-9682-1CF9-D38D47933D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C5EE7A9-C394-4C5C-8F04-6B9171D831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0797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649"/>
            <a:ext cx="7052041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BCA207-E03F-3145-E0E4-F10EE58C39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2C780CE-757B-4A2D-A050-40BC94C7E6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9928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76DF9E-A168-E961-F2D7-69D8E617B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D0A1BBD3-5114-4BBB-8ED8-9F7D3637AF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041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bg-blue-1.jpg">
            <a:extLst>
              <a:ext uri="{FF2B5EF4-FFF2-40B4-BE49-F238E27FC236}">
                <a16:creationId xmlns:a16="http://schemas.microsoft.com/office/drawing/2014/main" id="{3632DB0A-64DD-524E-2BC1-2596B89C575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9194800" cy="690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4" descr="white-logo.png">
            <a:extLst>
              <a:ext uri="{FF2B5EF4-FFF2-40B4-BE49-F238E27FC236}">
                <a16:creationId xmlns:a16="http://schemas.microsoft.com/office/drawing/2014/main" id="{B2DC859A-E7AA-A382-DA88-DDA877204DE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5" descr="orange-stripe.gif">
            <a:extLst>
              <a:ext uri="{FF2B5EF4-FFF2-40B4-BE49-F238E27FC236}">
                <a16:creationId xmlns:a16="http://schemas.microsoft.com/office/drawing/2014/main" id="{5962409E-624B-8E92-37BC-9A0E57AD04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20">
            <a:extLst>
              <a:ext uri="{FF2B5EF4-FFF2-40B4-BE49-F238E27FC236}">
                <a16:creationId xmlns:a16="http://schemas.microsoft.com/office/drawing/2014/main" id="{6939D1E1-D4DA-79A5-5C16-4FE0F927F2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019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70" r:id="rId1"/>
    <p:sldLayoutId id="2147488371" r:id="rId2"/>
    <p:sldLayoutId id="2147488372" r:id="rId3"/>
    <p:sldLayoutId id="2147488373" r:id="rId4"/>
    <p:sldLayoutId id="2147488374" r:id="rId5"/>
    <p:sldLayoutId id="2147488375" r:id="rId6"/>
    <p:sldLayoutId id="2147488376" r:id="rId7"/>
    <p:sldLayoutId id="2147488377" r:id="rId8"/>
    <p:sldLayoutId id="2147488378" r:id="rId9"/>
    <p:sldLayoutId id="2147488379" r:id="rId10"/>
    <p:sldLayoutId id="2147488380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7F2266B-D351-12E4-EF20-6EC7399BE1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7902F6A8-95FD-F085-34D0-13AB19D1C1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7DCEB-686C-54E9-2855-01B75FFC2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0814-6B98-72F5-2EB1-682EE4637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Century Gothic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ABOUT NUS,NUSIT &amp; ITCARE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770ED-F5B0-A9CD-A884-BE8CCDFE9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fld id="{A546D6B9-10D8-474F-9047-B77717CD375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5" name="Picture 6" descr="bg-grey-1.jpg">
            <a:extLst>
              <a:ext uri="{FF2B5EF4-FFF2-40B4-BE49-F238E27FC236}">
                <a16:creationId xmlns:a16="http://schemas.microsoft.com/office/drawing/2014/main" id="{5F73EEC8-E65E-CE61-D82B-DB3DA32901F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3" y="-23813"/>
            <a:ext cx="9242426" cy="698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7" descr="white-logo.png">
            <a:extLst>
              <a:ext uri="{FF2B5EF4-FFF2-40B4-BE49-F238E27FC236}">
                <a16:creationId xmlns:a16="http://schemas.microsoft.com/office/drawing/2014/main" id="{4477A3D1-DDB8-AA0F-9E19-1D44006C60D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8" descr="orange-stripe.gif">
            <a:extLst>
              <a:ext uri="{FF2B5EF4-FFF2-40B4-BE49-F238E27FC236}">
                <a16:creationId xmlns:a16="http://schemas.microsoft.com/office/drawing/2014/main" id="{F70AB99D-7FCB-18DA-DD04-7D9B53F7A52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" name="Text Box 20">
            <a:extLst>
              <a:ext uri="{FF2B5EF4-FFF2-40B4-BE49-F238E27FC236}">
                <a16:creationId xmlns:a16="http://schemas.microsoft.com/office/drawing/2014/main" id="{012AD620-B1BE-1DB4-66FE-54E57A5FA9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© Copyright National University of Singapore. All Rights Reserved.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4E653-CDA2-8BB4-A7E9-7F9ABD7F89BF}"/>
              </a:ext>
            </a:extLst>
          </p:cNvPr>
          <p:cNvSpPr/>
          <p:nvPr userDrawn="1"/>
        </p:nvSpPr>
        <p:spPr>
          <a:xfrm>
            <a:off x="7670800" y="6073775"/>
            <a:ext cx="1543050" cy="82550"/>
          </a:xfrm>
          <a:prstGeom prst="rect">
            <a:avLst/>
          </a:prstGeom>
          <a:solidFill>
            <a:srgbClr val="023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81" r:id="rId1"/>
    <p:sldLayoutId id="2147488382" r:id="rId2"/>
    <p:sldLayoutId id="2147488383" r:id="rId3"/>
    <p:sldLayoutId id="2147488384" r:id="rId4"/>
    <p:sldLayoutId id="2147488385" r:id="rId5"/>
    <p:sldLayoutId id="2147488386" r:id="rId6"/>
    <p:sldLayoutId id="2147488387" r:id="rId7"/>
    <p:sldLayoutId id="2147488388" r:id="rId8"/>
    <p:sldLayoutId id="2147488389" r:id="rId9"/>
    <p:sldLayoutId id="2147488390" r:id="rId10"/>
    <p:sldLayoutId id="2147488391" r:id="rId11"/>
    <p:sldLayoutId id="2147488392" r:id="rId12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6" descr="bg-orange-1.jpg">
            <a:extLst>
              <a:ext uri="{FF2B5EF4-FFF2-40B4-BE49-F238E27FC236}">
                <a16:creationId xmlns:a16="http://schemas.microsoft.com/office/drawing/2014/main" id="{748358A2-077A-EF55-9784-DE1CC1FC1E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3538" cy="69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8" descr="blue-stripe.gif">
            <a:extLst>
              <a:ext uri="{FF2B5EF4-FFF2-40B4-BE49-F238E27FC236}">
                <a16:creationId xmlns:a16="http://schemas.microsoft.com/office/drawing/2014/main" id="{70FE695D-0B87-47CE-F5F7-92300CD3D98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5299"/>
          <a:stretch>
            <a:fillRect/>
          </a:stretch>
        </p:blipFill>
        <p:spPr bwMode="auto">
          <a:xfrm>
            <a:off x="596900" y="6072188"/>
            <a:ext cx="8659813" cy="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11" descr="white-logo.png">
            <a:extLst>
              <a:ext uri="{FF2B5EF4-FFF2-40B4-BE49-F238E27FC236}">
                <a16:creationId xmlns:a16="http://schemas.microsoft.com/office/drawing/2014/main" id="{95D31285-BE91-6AAB-7A33-5ECB9885EB6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20">
            <a:extLst>
              <a:ext uri="{FF2B5EF4-FFF2-40B4-BE49-F238E27FC236}">
                <a16:creationId xmlns:a16="http://schemas.microsoft.com/office/drawing/2014/main" id="{C0A94381-DAC4-45C5-46E4-0E6E184C88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93" r:id="rId1"/>
    <p:sldLayoutId id="2147488394" r:id="rId2"/>
    <p:sldLayoutId id="2147488395" r:id="rId3"/>
    <p:sldLayoutId id="2147488396" r:id="rId4"/>
    <p:sldLayoutId id="2147488397" r:id="rId5"/>
    <p:sldLayoutId id="2147488398" r:id="rId6"/>
    <p:sldLayoutId id="2147488399" r:id="rId7"/>
    <p:sldLayoutId id="2147488400" r:id="rId8"/>
    <p:sldLayoutId id="2147488401" r:id="rId9"/>
    <p:sldLayoutId id="2147488402" r:id="rId10"/>
    <p:sldLayoutId id="2147488403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8" descr="blue-stripe.gif">
            <a:extLst>
              <a:ext uri="{FF2B5EF4-FFF2-40B4-BE49-F238E27FC236}">
                <a16:creationId xmlns:a16="http://schemas.microsoft.com/office/drawing/2014/main" id="{C4B3F803-3795-1DBE-9F8B-1234FEC6763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6303"/>
          <a:stretch>
            <a:fillRect/>
          </a:stretch>
        </p:blipFill>
        <p:spPr bwMode="auto">
          <a:xfrm>
            <a:off x="596900" y="6072188"/>
            <a:ext cx="8547100" cy="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4">
            <a:extLst>
              <a:ext uri="{FF2B5EF4-FFF2-40B4-BE49-F238E27FC236}">
                <a16:creationId xmlns:a16="http://schemas.microsoft.com/office/drawing/2014/main" id="{86B0BEAE-751A-E03E-9088-4CA0412714A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349250"/>
            <a:ext cx="11049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20">
            <a:extLst>
              <a:ext uri="{FF2B5EF4-FFF2-40B4-BE49-F238E27FC236}">
                <a16:creationId xmlns:a16="http://schemas.microsoft.com/office/drawing/2014/main" id="{B2E0BDF3-C6E9-245B-A5B7-278DF291DA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800">
                <a:solidFill>
                  <a:srgbClr val="595959"/>
                </a:solidFill>
                <a:latin typeface="Arial Unicode MS" panose="020B0604020202020204" pitchFamily="34" charset="-128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D47E67F-6029-67C6-06FD-246491A88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62781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rgbClr val="7F7F7F"/>
                </a:solidFill>
                <a:latin typeface="Frutiger LT 55 Roman" pitchFamily="34" charset="0"/>
              </a:defRPr>
            </a:lvl1pPr>
          </a:lstStyle>
          <a:p>
            <a:fld id="{A1A645E8-20F6-47E4-80BE-6186F90EDC5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84821-6DBB-88AA-AAE5-1830B07941A6}"/>
              </a:ext>
            </a:extLst>
          </p:cNvPr>
          <p:cNvSpPr/>
          <p:nvPr userDrawn="1"/>
        </p:nvSpPr>
        <p:spPr>
          <a:xfrm>
            <a:off x="7670800" y="6070600"/>
            <a:ext cx="1473200" cy="76200"/>
          </a:xfrm>
          <a:prstGeom prst="rect">
            <a:avLst/>
          </a:prstGeom>
          <a:solidFill>
            <a:srgbClr val="F1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404" r:id="rId1"/>
    <p:sldLayoutId id="2147488405" r:id="rId2"/>
    <p:sldLayoutId id="2147488406" r:id="rId3"/>
    <p:sldLayoutId id="2147488407" r:id="rId4"/>
    <p:sldLayoutId id="2147488408" r:id="rId5"/>
    <p:sldLayoutId id="2147488409" r:id="rId6"/>
    <p:sldLayoutId id="2147488410" r:id="rId7"/>
    <p:sldLayoutId id="2147488411" r:id="rId8"/>
    <p:sldLayoutId id="2147488412" r:id="rId9"/>
    <p:sldLayoutId id="2147488413" r:id="rId10"/>
    <p:sldLayoutId id="2147488414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bg-blue-1.jpg">
            <a:extLst>
              <a:ext uri="{FF2B5EF4-FFF2-40B4-BE49-F238E27FC236}">
                <a16:creationId xmlns:a16="http://schemas.microsoft.com/office/drawing/2014/main" id="{D7CF7461-10CB-6564-16F0-EBC6B80B82C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9194800" cy="690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4" descr="white-logo.png">
            <a:extLst>
              <a:ext uri="{FF2B5EF4-FFF2-40B4-BE49-F238E27FC236}">
                <a16:creationId xmlns:a16="http://schemas.microsoft.com/office/drawing/2014/main" id="{E3993A8F-F8F0-0F3B-802F-6F1E4B8DBBB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5" descr="orange-stripe.gif">
            <a:extLst>
              <a:ext uri="{FF2B5EF4-FFF2-40B4-BE49-F238E27FC236}">
                <a16:creationId xmlns:a16="http://schemas.microsoft.com/office/drawing/2014/main" id="{C511547A-FB1C-9835-EBD6-5F2F7AABAF4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20">
            <a:extLst>
              <a:ext uri="{FF2B5EF4-FFF2-40B4-BE49-F238E27FC236}">
                <a16:creationId xmlns:a16="http://schemas.microsoft.com/office/drawing/2014/main" id="{249CE189-6AC7-5A6B-F1E7-491AB3B434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019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415" r:id="rId1"/>
    <p:sldLayoutId id="2147488416" r:id="rId2"/>
    <p:sldLayoutId id="2147488417" r:id="rId3"/>
    <p:sldLayoutId id="2147488418" r:id="rId4"/>
    <p:sldLayoutId id="2147488419" r:id="rId5"/>
    <p:sldLayoutId id="2147488420" r:id="rId6"/>
    <p:sldLayoutId id="2147488421" r:id="rId7"/>
    <p:sldLayoutId id="2147488422" r:id="rId8"/>
    <p:sldLayoutId id="2147488423" r:id="rId9"/>
    <p:sldLayoutId id="2147488424" r:id="rId10"/>
    <p:sldLayoutId id="214748842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aip.org/aip/apr/article-abstract/9/1/011307/2835364?utm_source=chatgpt.com" TargetMode="External"/><Relationship Id="rId3" Type="http://schemas.openxmlformats.org/officeDocument/2006/relationships/hyperlink" Target="https://www.researchgate.net/publication/3997636_FinFET_scaling_to_10_nm_gate_length?utm_source=chatgpt.com" TargetMode="External"/><Relationship Id="rId7" Type="http://schemas.openxmlformats.org/officeDocument/2006/relationships/hyperlink" Target="https://pubs.aip.org/aip/apl/article/99/10/102903/121850/Ferroelectricity-in-hafnium-oxide-thin-films?utm_source=chatgpt.com" TargetMode="External"/><Relationship Id="rId12" Type="http://schemas.openxmlformats.org/officeDocument/2006/relationships/hyperlink" Target="https://www.mdpi.com/2072-666X/15/2/218?utm_source=chatgpt.com" TargetMode="External"/><Relationship Id="rId2" Type="http://schemas.openxmlformats.org/officeDocument/2006/relationships/hyperlink" Target="https://www.scirp.org/%28S%28czeh4tfqyw2orz553k1w0r45%29%29/reference/referencespapers?referenceid=767736&amp;utm_source=chatgpt.com" TargetMode="External"/><Relationship Id="rId1" Type="http://schemas.openxmlformats.org/officeDocument/2006/relationships/slideLayout" Target="../slideLayouts/slideLayout41.xml"/><Relationship Id="rId6" Type="http://schemas.openxmlformats.org/officeDocument/2006/relationships/hyperlink" Target="https://pubs.acs.org/doi/10.1021/nl071804g?utm_source=chatgpt.com" TargetMode="External"/><Relationship Id="rId11" Type="http://schemas.openxmlformats.org/officeDocument/2006/relationships/hyperlink" Target="https://pmc.ncbi.nlm.nih.gov/articles/PMC9146649/?utm_source=chatgpt.com" TargetMode="External"/><Relationship Id="rId5" Type="http://schemas.openxmlformats.org/officeDocument/2006/relationships/hyperlink" Target="https://www.mdpi.com/2079-9292/11/21/3589?utm_source=chatgpt.com" TargetMode="External"/><Relationship Id="rId10" Type="http://schemas.openxmlformats.org/officeDocument/2006/relationships/hyperlink" Target="https://ui.adsabs.harvard.edu/abs/2024AdvFM..3410438Y/abstract?utm_source=chatgpt.com" TargetMode="External"/><Relationship Id="rId4" Type="http://schemas.openxmlformats.org/officeDocument/2006/relationships/hyperlink" Target="https://academic.oup.com/nsr/article/11/3/nwae008/7512206?utm_source=chatgpt.com" TargetMode="External"/><Relationship Id="rId9" Type="http://schemas.openxmlformats.org/officeDocument/2006/relationships/hyperlink" Target="https://pubs.aip.org/aip/apm/article/9/2/021102/567778/Ferroelectric-field-effect-transistors-Progress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4">
            <a:extLst>
              <a:ext uri="{FF2B5EF4-FFF2-40B4-BE49-F238E27FC236}">
                <a16:creationId xmlns:a16="http://schemas.microsoft.com/office/drawing/2014/main" id="{913CCF7F-9813-1FC4-62F5-1450D6F055CD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206142" y="1603846"/>
            <a:ext cx="6864175" cy="7617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000" b="1" cap="none" dirty="0">
                <a:latin typeface="Frutiger LT 55 Roman" pitchFamily="34" charset="0"/>
                <a:cs typeface="Frutiger LT 55 Roman" pitchFamily="34" charset="0"/>
              </a:rPr>
              <a:t>MOS Devices 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59A1E-5485-31BB-2289-5CDF46F248D8}"/>
              </a:ext>
            </a:extLst>
          </p:cNvPr>
          <p:cNvSpPr txBox="1"/>
          <p:nvPr/>
        </p:nvSpPr>
        <p:spPr>
          <a:xfrm>
            <a:off x="1628222" y="3136612"/>
            <a:ext cx="64420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Ferroelectric Nanosheet FETs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DD8F2F-D590-5238-B969-FB7DCBF91E7F}"/>
                  </a:ext>
                </a:extLst>
              </p:cNvPr>
              <p:cNvSpPr txBox="1"/>
              <p:nvPr/>
            </p:nvSpPr>
            <p:spPr>
              <a:xfrm>
                <a:off x="229956" y="1063806"/>
                <a:ext cx="4793345" cy="500147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As per the Moore’s law: number of transistors on an integrated circuit doubles approximately every 2 years, leading to increase in computing power and a decrease in cost.</a:t>
                </a: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But as channel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went below 30 nm,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Dennard scaling broke down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— the power density no longer stayed constant.</a:t>
                </a: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Shrinking dimensions caused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short-channel effects (SCEs)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: drain fields penetrating the channel, degrading threshold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 and increasing leakage. </a:t>
                </a: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Higher leakage leads to more static power, so new designs aim to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improve electrostatics rather than just shrink size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.</a:t>
                </a:r>
                <a:b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</a:b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This challenge started a geometric revolution:</a:t>
                </a:r>
              </a:p>
              <a:p>
                <a:pPr defTabSz="4572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    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Planar MOSFET-&gt;</a:t>
                </a:r>
                <a:r>
                  <a:rPr lang="en-US" sz="1600" b="1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FinFET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-&gt;GAA-&gt;Fe-NS FET</a:t>
                </a: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Each step improves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gate-channel control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and lowers leakage; the latest adds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ferroelectric functionality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for non-volatility and steep-slope switching.</a:t>
                </a: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endParaRPr lang="en-US" sz="1600" dirty="0">
                  <a:solidFill>
                    <a:srgbClr val="023E7C"/>
                  </a:solidFill>
                  <a:latin typeface="Abadi" panose="020B0604020104020204" pitchFamily="34" charset="0"/>
                </a:endParaRP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1100" b="1" dirty="0">
                  <a:solidFill>
                    <a:srgbClr val="023E7C"/>
                  </a:solidFill>
                  <a:latin typeface="Frutiger LT 55 Roman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DD8F2F-D590-5238-B969-FB7DCBF91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56" y="1063806"/>
                <a:ext cx="4793345" cy="5001479"/>
              </a:xfrm>
              <a:prstGeom prst="rect">
                <a:avLst/>
              </a:prstGeom>
              <a:blipFill>
                <a:blip r:embed="rId3"/>
                <a:stretch>
                  <a:fillRect l="-509" t="-8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D0B85D0E-8DF6-75B8-D2E8-2003DB7B69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7" t="4692" r="3460" b="25932"/>
          <a:stretch>
            <a:fillRect/>
          </a:stretch>
        </p:blipFill>
        <p:spPr>
          <a:xfrm>
            <a:off x="5078852" y="1211060"/>
            <a:ext cx="4038600" cy="2001449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F19AC3-BDCC-8373-054A-1DB51755CB9A}"/>
              </a:ext>
            </a:extLst>
          </p:cNvPr>
          <p:cNvSpPr txBox="1"/>
          <p:nvPr/>
        </p:nvSpPr>
        <p:spPr>
          <a:xfrm>
            <a:off x="574697" y="480217"/>
            <a:ext cx="5259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cap="none" dirty="0">
                <a:latin typeface="Abadi" panose="020B0604020104020204" pitchFamily="34" charset="0"/>
                <a:cs typeface="Times New Roman" panose="02020603050405020304" pitchFamily="18" charset="0"/>
              </a:rPr>
              <a:t>Evolution of Transistor Architectures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10693-E732-3243-912C-293866B6ED2D}"/>
              </a:ext>
            </a:extLst>
          </p:cNvPr>
          <p:cNvSpPr txBox="1"/>
          <p:nvPr/>
        </p:nvSpPr>
        <p:spPr>
          <a:xfrm>
            <a:off x="501446" y="6141976"/>
            <a:ext cx="904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</a:t>
            </a:r>
            <a:r>
              <a:rPr lang="en-IN" sz="1200" dirty="0">
                <a:latin typeface="Abadi" panose="020B0604020104020204" pitchFamily="34" charset="0"/>
              </a:rPr>
              <a:t> Bohr &amp; Young 2017 (</a:t>
            </a:r>
            <a:r>
              <a:rPr lang="en-IN" sz="1200" i="1" dirty="0">
                <a:latin typeface="Abadi" panose="020B0604020104020204" pitchFamily="34" charset="0"/>
              </a:rPr>
              <a:t>IEEE Micro</a:t>
            </a:r>
            <a:r>
              <a:rPr lang="en-IN" sz="1200" dirty="0">
                <a:latin typeface="Abadi" panose="020B0604020104020204" pitchFamily="34" charset="0"/>
              </a:rPr>
              <a:t>); Kim et </a:t>
            </a:r>
            <a:r>
              <a:rPr lang="en-IN" sz="1200" dirty="0" err="1">
                <a:latin typeface="Abadi" panose="020B0604020104020204" pitchFamily="34" charset="0"/>
              </a:rPr>
              <a:t>al.,</a:t>
            </a:r>
            <a:r>
              <a:rPr lang="en-IN" sz="1200" i="1" dirty="0" err="1">
                <a:latin typeface="Abadi" panose="020B0604020104020204" pitchFamily="34" charset="0"/>
              </a:rPr>
              <a:t>Nat</a:t>
            </a:r>
            <a:r>
              <a:rPr lang="en-IN" sz="1200" i="1" dirty="0">
                <a:latin typeface="Abadi" panose="020B0604020104020204" pitchFamily="34" charset="0"/>
              </a:rPr>
              <a:t>. Sci. Rev.</a:t>
            </a:r>
            <a:r>
              <a:rPr lang="en-IN" sz="1200" dirty="0">
                <a:latin typeface="Abadi" panose="020B0604020104020204" pitchFamily="34" charset="0"/>
              </a:rPr>
              <a:t> 2024 [1][3]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D2A712-60B9-E671-2ABF-6C0F9C483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944" y="3490555"/>
            <a:ext cx="3624416" cy="200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1392-E4C8-63A3-DC92-04A52880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41" y="333387"/>
            <a:ext cx="7172102" cy="367066"/>
          </a:xfrm>
        </p:spPr>
        <p:txBody>
          <a:bodyPr/>
          <a:lstStyle/>
          <a:p>
            <a:r>
              <a:rPr lang="en-IN" sz="2400" cap="none" dirty="0">
                <a:latin typeface="Abadi" panose="020B0604020104020204" pitchFamily="34" charset="0"/>
              </a:rPr>
              <a:t>Planar MOSFET: Strength and Limitations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300CC-AF24-BF0B-3330-5AD7621A5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466" y="1041273"/>
                <a:ext cx="4812357" cy="5108841"/>
              </a:xfrm>
            </p:spPr>
            <p:txBody>
              <a:bodyPr/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The planar MOSFET uses a flat channel and a single gate on top of </a:t>
                </a:r>
                <a:r>
                  <a:rPr lang="en-IN" sz="1600" dirty="0" err="1">
                    <a:latin typeface="Abadi" panose="020B0604020104020204" pitchFamily="34" charset="0"/>
                  </a:rPr>
                  <a:t>SiO</a:t>
                </a:r>
                <a:r>
                  <a:rPr lang="en-IN" sz="1600" dirty="0">
                    <a:latin typeface="Abadi" panose="020B0604020104020204" pitchFamily="34" charset="0"/>
                  </a:rPr>
                  <a:t>₂. It is simple, reliable, and dominated &gt;45 nm technology.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However, its </a:t>
                </a:r>
                <a:r>
                  <a:rPr lang="en-IN" sz="1600" b="1" dirty="0">
                    <a:latin typeface="Abadi" panose="020B0604020104020204" pitchFamily="34" charset="0"/>
                  </a:rPr>
                  <a:t>single-sided control</a:t>
                </a:r>
                <a:r>
                  <a:rPr lang="en-IN" sz="1600" dirty="0">
                    <a:latin typeface="Abadi" panose="020B0604020104020204" pitchFamily="34" charset="0"/>
                  </a:rPr>
                  <a:t> became insufficient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ar-AE" sz="1600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. </a:t>
                </a:r>
                <a:r>
                  <a:rPr lang="en-IN" sz="1600" dirty="0">
                    <a:latin typeface="Abadi" panose="020B0604020104020204" pitchFamily="34" charset="0"/>
                  </a:rPr>
                  <a:t>The gate potential decays into the channel with a characteristic length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1600" dirty="0">
                  <a:latin typeface="Abadi" panose="020B0604020104020204" pitchFamily="34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Large </a:t>
                </a:r>
                <a:r>
                  <a:rPr lang="el-GR" sz="1600" dirty="0"/>
                  <a:t>λ → </a:t>
                </a:r>
                <a:r>
                  <a:rPr lang="en-IN" sz="1600" dirty="0">
                    <a:latin typeface="Abadi" panose="020B0604020104020204" pitchFamily="34" charset="0"/>
                  </a:rPr>
                  <a:t>poor control → SCEs.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The </a:t>
                </a:r>
                <a:r>
                  <a:rPr lang="en-IN" sz="1600" b="1" dirty="0">
                    <a:latin typeface="Abadi" panose="020B0604020104020204" pitchFamily="34" charset="0"/>
                  </a:rPr>
                  <a:t>subthreshold slope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func>
                        </m:e>
                      </m:d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𝑘𝑇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m:rPr>
                          <m:nor/>
                        </m:rPr>
                        <a:rPr lang="ar-AE" sz="1600" i="1">
                          <a:latin typeface="Abadi" panose="020B0604020104020204" pitchFamily="34" charset="0"/>
                        </a:rPr>
                        <m:t> 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𝑑𝑒𝑝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ar-AE" sz="1600" i="1">
                          <a:latin typeface="Abadi" panose="020B0604020104020204" pitchFamily="34" charset="0"/>
                        </a:rPr>
                        <m:t> 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90</m:t>
                      </m:r>
                      <m:r>
                        <m:rPr>
                          <m:nor/>
                        </m:rPr>
                        <a:rPr lang="ar-AE" sz="1600" i="1">
                          <a:latin typeface="Abadi" panose="020B0604020104020204" pitchFamily="34" charset="0"/>
                        </a:rPr>
                        <m:t>  </m:t>
                      </m:r>
                      <m:r>
                        <m:rPr>
                          <m:sty m:val="p"/>
                        </m:rPr>
                        <a:rPr lang="en-IN" sz="1600">
                          <a:latin typeface="Cambria Math" panose="02040503050406030204" pitchFamily="18" charset="0"/>
                        </a:rPr>
                        <m:t>mV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IN" sz="1600"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en-IN" sz="1600" dirty="0">
                  <a:latin typeface="Abadi" panose="020B0604020104020204" pitchFamily="34" charset="0"/>
                </a:endParaRPr>
              </a:p>
              <a:p>
                <a:pPr marL="400050" lvl="1" indent="0">
                  <a:buNone/>
                </a:pPr>
                <a:r>
                  <a:rPr lang="en-IN" sz="1600" dirty="0">
                    <a:latin typeface="Abadi" panose="020B0604020104020204" pitchFamily="34" charset="0"/>
                  </a:rPr>
                  <a:t>is much higher than the 60 mV/dec Boltzmann limit, so leakage current increases exponentially.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DIBL often exceeds 100 mV/V.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Thus, planar devices failed below 30 nm: they leaked power even when “off.”</a:t>
                </a:r>
              </a:p>
              <a:p>
                <a:pPr marL="400050" lvl="1" indent="0">
                  <a:buNone/>
                </a:pPr>
                <a:endParaRPr lang="en-IN" sz="1600" dirty="0"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300CC-AF24-BF0B-3330-5AD7621A5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466" y="1041273"/>
                <a:ext cx="4812357" cy="5108841"/>
              </a:xfrm>
              <a:blipFill>
                <a:blip r:embed="rId3"/>
                <a:stretch>
                  <a:fillRect l="-507" t="-358" r="-7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0282574-F57E-563C-2D0B-835683B5D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224" y="2189520"/>
            <a:ext cx="3651310" cy="2366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22A12-27CF-D230-3E8E-EAE0E06A15F3}"/>
              </a:ext>
            </a:extLst>
          </p:cNvPr>
          <p:cNvSpPr txBox="1"/>
          <p:nvPr/>
        </p:nvSpPr>
        <p:spPr>
          <a:xfrm>
            <a:off x="542741" y="6150114"/>
            <a:ext cx="676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badi" panose="020B0604020104020204" pitchFamily="34" charset="0"/>
              </a:rPr>
              <a:t>Refs:</a:t>
            </a:r>
            <a:r>
              <a:rPr lang="en-US" sz="1200" dirty="0">
                <a:latin typeface="Abadi" panose="020B0604020104020204" pitchFamily="34" charset="0"/>
              </a:rPr>
              <a:t> Y. Taur &amp; T. Ning, </a:t>
            </a:r>
            <a:r>
              <a:rPr lang="en-US" sz="1200" i="1" dirty="0">
                <a:latin typeface="Abadi" panose="020B0604020104020204" pitchFamily="34" charset="0"/>
              </a:rPr>
              <a:t>Fundamentals of Modern VLSI Devices</a:t>
            </a:r>
            <a:r>
              <a:rPr lang="en-US" sz="1200" dirty="0">
                <a:latin typeface="Abadi" panose="020B0604020104020204" pitchFamily="34" charset="0"/>
              </a:rPr>
              <a:t> (2009)</a:t>
            </a:r>
            <a:endParaRPr lang="en-IN" sz="1200" dirty="0">
              <a:latin typeface="Abadi" panose="020B0604020104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99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70712-5808-EA68-06A4-C1C73F46F0C9}"/>
                  </a:ext>
                </a:extLst>
              </p:cNvPr>
              <p:cNvSpPr txBox="1"/>
              <p:nvPr/>
            </p:nvSpPr>
            <p:spPr>
              <a:xfrm>
                <a:off x="280218" y="1271676"/>
                <a:ext cx="4427467" cy="4539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To fight SCEs, Intel and other semiconductor tech giants adopted </a:t>
                </a:r>
                <a:r>
                  <a:rPr lang="en-IN" sz="1800" b="1" dirty="0" err="1">
                    <a:latin typeface="Abadi" panose="020B0604020104020204" pitchFamily="34" charset="0"/>
                  </a:rPr>
                  <a:t>FinFETs</a:t>
                </a:r>
                <a:r>
                  <a:rPr lang="en-IN" sz="1800" dirty="0">
                    <a:latin typeface="Abadi" panose="020B0604020104020204" pitchFamily="34" charset="0"/>
                  </a:rPr>
                  <a:t>, where a thin vertical “fin” acts as the channel and the gate wraps around three sides.</a:t>
                </a:r>
                <a:br>
                  <a:rPr lang="en-IN" sz="1800" dirty="0">
                    <a:latin typeface="Abadi" panose="020B0604020104020204" pitchFamily="34" charset="0"/>
                  </a:rPr>
                </a:br>
                <a:r>
                  <a:rPr lang="en-IN" sz="1800" dirty="0">
                    <a:latin typeface="Abadi" panose="020B0604020104020204" pitchFamily="34" charset="0"/>
                  </a:rPr>
                  <a:t>This increases the effective gate area and reduces </a:t>
                </a:r>
                <a:r>
                  <a:rPr lang="el-GR" sz="1800" dirty="0"/>
                  <a:t>λ </a:t>
                </a:r>
                <a:r>
                  <a:rPr lang="en-IN" sz="1800" dirty="0">
                    <a:latin typeface="Abadi" panose="020B0604020104020204" pitchFamily="34" charset="0"/>
                  </a:rPr>
                  <a:t>to roughly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IN" sz="1800" dirty="0">
                  <a:latin typeface="Abadi" panose="020B0604020104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𝐹𝑖𝑛</m:t>
                          </m:r>
                        </m:sub>
                      </m:sSub>
                      <m:r>
                        <a:rPr lang="ar-AE" sz="1800" b="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IN" sz="1800" b="0" i="1" smtClean="0">
                          <a:latin typeface="Abadi" panose="020B0604020104020204" pitchFamily="34" charset="0"/>
                        </a:rPr>
                        <m:t> </m:t>
                      </m:r>
                      <m:f>
                        <m:fPr>
                          <m:ctrlPr>
                            <a:rPr lang="ar-AE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num>
                        <m:den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ar-AE" sz="18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800" b="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1800" dirty="0">
                  <a:latin typeface="Abadi" panose="020B0604020104020204" pitchFamily="34" charset="0"/>
                </a:endParaRPr>
              </a:p>
              <a:p>
                <a:pPr/>
                <a:endParaRPr lang="en-IN" sz="1800" dirty="0">
                  <a:latin typeface="Abadi" panose="020B0604020104020204" pitchFamily="34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Better control yields </a:t>
                </a:r>
                <a:r>
                  <a:rPr lang="en-IN" sz="1800" b="1" dirty="0">
                    <a:latin typeface="Abadi" panose="020B0604020104020204" pitchFamily="34" charset="0"/>
                  </a:rPr>
                  <a:t>SS ≈ 70 mV/dec</a:t>
                </a:r>
                <a:r>
                  <a:rPr lang="en-IN" sz="1800" dirty="0">
                    <a:latin typeface="Abadi" panose="020B0604020104020204" pitchFamily="34" charset="0"/>
                  </a:rPr>
                  <a:t>, </a:t>
                </a:r>
                <a:r>
                  <a:rPr lang="en-IN" sz="1800" b="1" dirty="0">
                    <a:latin typeface="Abadi" panose="020B0604020104020204" pitchFamily="34" charset="0"/>
                  </a:rPr>
                  <a:t>DIBL ≈ 60 mV/V</a:t>
                </a:r>
                <a:r>
                  <a:rPr lang="en-IN" sz="1800" dirty="0">
                    <a:latin typeface="Abadi" panose="020B0604020104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ar-AE" sz="1800" i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𝑜𝑓𝑓</m:t>
                        </m:r>
                      </m:sub>
                    </m:sSub>
                    <m:r>
                      <a:rPr lang="ar-AE" sz="1800" b="0" i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ar-AE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b="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1800" b="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ar-AE" sz="1800" dirty="0">
                    <a:latin typeface="Abadi" panose="020B0604020104020204" pitchFamily="34" charset="0"/>
                  </a:rPr>
                  <a:t>.</a:t>
                </a:r>
                <a:br>
                  <a:rPr lang="ar-AE" sz="1800" dirty="0">
                    <a:latin typeface="Abadi" panose="020B0604020104020204" pitchFamily="34" charset="0"/>
                  </a:rPr>
                </a:br>
                <a:r>
                  <a:rPr lang="en-IN" sz="1800" dirty="0" err="1">
                    <a:latin typeface="Abadi" panose="020B0604020104020204" pitchFamily="34" charset="0"/>
                  </a:rPr>
                  <a:t>FinFETs</a:t>
                </a:r>
                <a:r>
                  <a:rPr lang="en-IN" sz="1800" dirty="0">
                    <a:latin typeface="Abadi" panose="020B0604020104020204" pitchFamily="34" charset="0"/>
                  </a:rPr>
                  <a:t> enabled 22–10 nm nodes and became the mainstream 3-D transistor.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70712-5808-EA68-06A4-C1C73F46F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18" y="1271676"/>
                <a:ext cx="4427467" cy="4539448"/>
              </a:xfrm>
              <a:prstGeom prst="rect">
                <a:avLst/>
              </a:prstGeom>
              <a:blipFill>
                <a:blip r:embed="rId2"/>
                <a:stretch>
                  <a:fillRect l="-964" t="-806" r="-138" b="-1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407FEA7-0718-2C9F-EB0B-D6D45138B8A2}"/>
              </a:ext>
            </a:extLst>
          </p:cNvPr>
          <p:cNvSpPr txBox="1"/>
          <p:nvPr/>
        </p:nvSpPr>
        <p:spPr>
          <a:xfrm>
            <a:off x="513244" y="6170725"/>
            <a:ext cx="5928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latin typeface="Abadi" panose="020B0604020104020204" pitchFamily="34" charset="0"/>
              </a:rPr>
              <a:t>Refs:</a:t>
            </a:r>
            <a:r>
              <a:rPr lang="da-DK" sz="1200" dirty="0">
                <a:latin typeface="Abadi" panose="020B0604020104020204" pitchFamily="34" charset="0"/>
              </a:rPr>
              <a:t> Hisamoto et al., </a:t>
            </a:r>
            <a:r>
              <a:rPr lang="da-DK" sz="1200" i="1" dirty="0">
                <a:latin typeface="Abadi" panose="020B0604020104020204" pitchFamily="34" charset="0"/>
              </a:rPr>
              <a:t>IEEE TED</a:t>
            </a:r>
            <a:r>
              <a:rPr lang="da-DK" sz="1200" dirty="0">
                <a:latin typeface="Abadi" panose="020B0604020104020204" pitchFamily="34" charset="0"/>
              </a:rPr>
              <a:t> 2000; B. Yu et al., </a:t>
            </a:r>
            <a:r>
              <a:rPr lang="da-DK" sz="1200" i="1" dirty="0">
                <a:latin typeface="Abadi" panose="020B0604020104020204" pitchFamily="34" charset="0"/>
              </a:rPr>
              <a:t>IEDM</a:t>
            </a:r>
            <a:r>
              <a:rPr lang="da-DK" sz="1200" dirty="0">
                <a:latin typeface="Abadi" panose="020B0604020104020204" pitchFamily="34" charset="0"/>
              </a:rPr>
              <a:t> 2002</a:t>
            </a:r>
            <a:endParaRPr lang="en-IN" sz="1200" dirty="0"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FB431-9DB3-0304-A124-83C7F33956F0}"/>
              </a:ext>
            </a:extLst>
          </p:cNvPr>
          <p:cNvSpPr txBox="1"/>
          <p:nvPr/>
        </p:nvSpPr>
        <p:spPr>
          <a:xfrm>
            <a:off x="513244" y="419632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cap="none" dirty="0" err="1">
                <a:latin typeface="Abadi" panose="020B0604020104020204" pitchFamily="34" charset="0"/>
              </a:rPr>
              <a:t>FinFET</a:t>
            </a:r>
            <a:r>
              <a:rPr lang="en-IN" sz="2600" b="1" dirty="0">
                <a:latin typeface="Abadi" panose="020B0604020104020204" pitchFamily="34" charset="0"/>
              </a:rPr>
              <a:t>: First 3D solution</a:t>
            </a:r>
            <a:endParaRPr lang="en-IN" sz="2600" b="1" dirty="0"/>
          </a:p>
        </p:txBody>
      </p:sp>
      <p:pic>
        <p:nvPicPr>
          <p:cNvPr id="194564" name="Picture 4" descr="physical design - Multiple Transistors (FinFET) sharing a gate? -  Electrical Engineering Stack Exchange">
            <a:extLst>
              <a:ext uri="{FF2B5EF4-FFF2-40B4-BE49-F238E27FC236}">
                <a16:creationId xmlns:a16="http://schemas.microsoft.com/office/drawing/2014/main" id="{F1F6D282-8F55-64CC-F911-0E8B574AB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175" y="1871140"/>
            <a:ext cx="3995302" cy="274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98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5A567-3C3E-30C3-F150-EB30FA40A5D8}"/>
                  </a:ext>
                </a:extLst>
              </p:cNvPr>
              <p:cNvSpPr txBox="1"/>
              <p:nvPr/>
            </p:nvSpPr>
            <p:spPr>
              <a:xfrm>
                <a:off x="252092" y="1453407"/>
                <a:ext cx="4207821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Below 5 nm, fin-aspect limits and leakage at fin edges degrades performance due to corner-field crowding as the gate doesn’t fully surround the channel.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Tall fins complicate lithography and heat removal.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Gate-All-Around (GAA) devices fix this by wrapping the gate on all sides, giving symmetric control and uniform current.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800" dirty="0">
                    <a:latin typeface="Abadi" panose="020B0604020104020204" pitchFamily="34" charset="0"/>
                  </a:rPr>
                  <a:t>At equal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ar-AE" sz="1800" dirty="0">
                    <a:latin typeface="Abadi" panose="020B0604020104020204" pitchFamily="34" charset="0"/>
                  </a:rPr>
                  <a:t>, </a:t>
                </a:r>
                <a:r>
                  <a:rPr lang="en-IN" sz="1800" dirty="0">
                    <a:latin typeface="Abadi" panose="020B0604020104020204" pitchFamily="34" charset="0"/>
                  </a:rPr>
                  <a:t>GAA reduces DIBL by ~30 % and achieves SS ≈ 60 mV/dec – the theoretical limit for thermionic carriers.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5A567-3C3E-30C3-F150-EB30FA40A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92" y="1453407"/>
                <a:ext cx="4207821" cy="4247317"/>
              </a:xfrm>
              <a:prstGeom prst="rect">
                <a:avLst/>
              </a:prstGeom>
              <a:blipFill>
                <a:blip r:embed="rId2"/>
                <a:stretch>
                  <a:fillRect l="-1013" t="-717" r="-2171" b="-1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6B8702-DEC6-3117-2D24-5D6FC8616AA7}"/>
              </a:ext>
            </a:extLst>
          </p:cNvPr>
          <p:cNvSpPr txBox="1"/>
          <p:nvPr/>
        </p:nvSpPr>
        <p:spPr>
          <a:xfrm>
            <a:off x="468998" y="680969"/>
            <a:ext cx="54421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cap="none" dirty="0" err="1">
                <a:latin typeface="Abadi" panose="020B0604020104020204" pitchFamily="34" charset="0"/>
              </a:rPr>
              <a:t>FinFET</a:t>
            </a:r>
            <a:r>
              <a:rPr lang="en-IN" sz="2600" b="1" cap="none" dirty="0">
                <a:latin typeface="Abadi" panose="020B0604020104020204" pitchFamily="34" charset="0"/>
              </a:rPr>
              <a:t> Limits and GAA Transition</a:t>
            </a:r>
            <a:endParaRPr lang="en-IN" sz="2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E71F9-BAB5-F315-5BE1-D4F5766CA1E1}"/>
              </a:ext>
            </a:extLst>
          </p:cNvPr>
          <p:cNvSpPr txBox="1"/>
          <p:nvPr/>
        </p:nvSpPr>
        <p:spPr>
          <a:xfrm>
            <a:off x="557488" y="6177031"/>
            <a:ext cx="5790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</a:t>
            </a:r>
            <a:r>
              <a:rPr lang="en-IN" sz="1200" dirty="0">
                <a:latin typeface="Abadi" panose="020B0604020104020204" pitchFamily="34" charset="0"/>
              </a:rPr>
              <a:t> Kim et al., </a:t>
            </a:r>
            <a:r>
              <a:rPr lang="en-IN" sz="1200" i="1" dirty="0">
                <a:latin typeface="Abadi" panose="020B0604020104020204" pitchFamily="34" charset="0"/>
              </a:rPr>
              <a:t>Nat. Sci. Rev.</a:t>
            </a:r>
            <a:r>
              <a:rPr lang="en-IN" sz="1200" dirty="0">
                <a:latin typeface="Abadi" panose="020B0604020104020204" pitchFamily="34" charset="0"/>
              </a:rPr>
              <a:t> 2024</a:t>
            </a:r>
          </a:p>
        </p:txBody>
      </p:sp>
      <p:pic>
        <p:nvPicPr>
          <p:cNvPr id="194566" name="Picture 6" descr="Fin core dimensionality and corner effect in dual core gate-all-around  FinFET - ScienceDirect">
            <a:extLst>
              <a:ext uri="{FF2B5EF4-FFF2-40B4-BE49-F238E27FC236}">
                <a16:creationId xmlns:a16="http://schemas.microsoft.com/office/drawing/2014/main" id="{3566D383-EDF8-42E9-1662-F080BFA71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357" y="1395414"/>
            <a:ext cx="3863464" cy="406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07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7D69ED-6629-E5AB-4E86-C6DF54F5D277}"/>
              </a:ext>
            </a:extLst>
          </p:cNvPr>
          <p:cNvSpPr txBox="1"/>
          <p:nvPr/>
        </p:nvSpPr>
        <p:spPr>
          <a:xfrm>
            <a:off x="315616" y="234633"/>
            <a:ext cx="6574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GAA / Nanosheet FET: Concept and Structure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17463-ED1D-8671-4198-86796346DD0F}"/>
              </a:ext>
            </a:extLst>
          </p:cNvPr>
          <p:cNvSpPr txBox="1"/>
          <p:nvPr/>
        </p:nvSpPr>
        <p:spPr>
          <a:xfrm>
            <a:off x="315616" y="755291"/>
            <a:ext cx="4987905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badi" panose="020B0604020104020204" pitchFamily="34" charset="0"/>
              </a:rPr>
              <a:t>Motivation: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badi" panose="020B0604020104020204" pitchFamily="34" charset="0"/>
              </a:rPr>
              <a:t>Below 5 nm, </a:t>
            </a:r>
            <a:r>
              <a:rPr lang="en-US" sz="1600" dirty="0" err="1">
                <a:latin typeface="Abadi" panose="020B0604020104020204" pitchFamily="34" charset="0"/>
              </a:rPr>
              <a:t>FinFETs</a:t>
            </a:r>
            <a:r>
              <a:rPr lang="en-US" sz="1600" dirty="0">
                <a:latin typeface="Abadi" panose="020B0604020104020204" pitchFamily="34" charset="0"/>
              </a:rPr>
              <a:t> face short-channel limits due to side-wall-only gate control.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badi" panose="020B0604020104020204" pitchFamily="34" charset="0"/>
              </a:rPr>
              <a:t>The Gate-All-Around (GAA) design surrounds the channel completely, giving 360° electrostatic control and enabling further scaling.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badi" panose="020B0604020104020204" pitchFamily="34" charset="0"/>
              </a:rPr>
              <a:t>Horizontal nanosheet FETs replace fins with stacked Si/SiGe sheets—each a conduction path fully wrapped by gate metal and dielectric.</a:t>
            </a:r>
          </a:p>
          <a:p>
            <a:r>
              <a:rPr lang="en-IN" sz="1600" b="1" dirty="0">
                <a:latin typeface="Abadi" panose="020B0604020104020204" pitchFamily="34" charset="0"/>
              </a:rPr>
              <a:t>Structure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3–5 stacked Si/SiGe sheets → higher drive current (Iᴅ) per footprint.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High-</a:t>
            </a:r>
            <a:r>
              <a:rPr lang="el-GR" sz="1600" dirty="0"/>
              <a:t>κ </a:t>
            </a:r>
            <a:r>
              <a:rPr lang="en-IN" sz="1600" dirty="0" err="1">
                <a:latin typeface="Abadi" panose="020B0604020104020204" pitchFamily="34" charset="0"/>
              </a:rPr>
              <a:t>HfO</a:t>
            </a:r>
            <a:r>
              <a:rPr lang="en-IN" sz="1600" dirty="0">
                <a:latin typeface="Abadi" panose="020B0604020104020204" pitchFamily="34" charset="0"/>
              </a:rPr>
              <a:t>₂/</a:t>
            </a:r>
            <a:r>
              <a:rPr lang="en-IN" sz="1600" dirty="0" err="1">
                <a:latin typeface="Abadi" panose="020B0604020104020204" pitchFamily="34" charset="0"/>
              </a:rPr>
              <a:t>SiO</a:t>
            </a:r>
            <a:r>
              <a:rPr lang="en-IN" sz="1600" dirty="0">
                <a:latin typeface="Abadi" panose="020B0604020104020204" pitchFamily="34" charset="0"/>
              </a:rPr>
              <a:t>₂ dielectric and metal gate wrap around each sheet.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Fully-depleted channel suppresses leakage and improves control.</a:t>
            </a:r>
          </a:p>
          <a:p>
            <a:r>
              <a:rPr lang="en-IN" sz="1600" b="1" dirty="0">
                <a:latin typeface="Abadi" panose="020B0604020104020204" pitchFamily="34" charset="0"/>
              </a:rPr>
              <a:t>Why it Matters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Excellent electrostatics (SCE suppression &lt; 2 nm).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Higher Iₒₙ, lower </a:t>
            </a:r>
            <a:r>
              <a:rPr lang="en-IN" sz="1600" dirty="0" err="1">
                <a:latin typeface="Abadi" panose="020B0604020104020204" pitchFamily="34" charset="0"/>
              </a:rPr>
              <a:t>Iₒff</a:t>
            </a:r>
            <a:r>
              <a:rPr lang="en-IN" sz="1600" dirty="0">
                <a:latin typeface="Abadi" panose="020B0604020104020204" pitchFamily="34" charset="0"/>
              </a:rPr>
              <a:t>, CMOS-compatible process.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badi" panose="020B0604020104020204" pitchFamily="34" charset="0"/>
              </a:rPr>
              <a:t>Basis for Fe-NS FET → adds non-volatility and sub-60 mV/dec operation.</a:t>
            </a:r>
          </a:p>
          <a:p>
            <a:endParaRPr lang="en-IN" sz="1600" dirty="0">
              <a:latin typeface="Abadi" panose="020B0604020104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badi" panose="020B0604020104020204" pitchFamily="34" charset="0"/>
            </a:endParaRPr>
          </a:p>
          <a:p>
            <a:endParaRPr lang="en-US" sz="1600" dirty="0">
              <a:latin typeface="Abadi" panose="020B0604020104020204" pitchFamily="34" charset="0"/>
            </a:endParaRPr>
          </a:p>
          <a:p>
            <a:r>
              <a:rPr lang="en-US" sz="1600" dirty="0">
                <a:latin typeface="Abadi" panose="020B0604020104020204" pitchFamily="34" charset="0"/>
              </a:rPr>
              <a:t> </a:t>
            </a:r>
          </a:p>
        </p:txBody>
      </p:sp>
      <p:pic>
        <p:nvPicPr>
          <p:cNvPr id="196610" name="Picture 2" descr="A conceptual diagram of a gate-all-around (GAA) field-effect transistor">
            <a:extLst>
              <a:ext uri="{FF2B5EF4-FFF2-40B4-BE49-F238E27FC236}">
                <a16:creationId xmlns:a16="http://schemas.microsoft.com/office/drawing/2014/main" id="{DBE4DD02-B15E-242C-4F11-9391F36F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065" y="917582"/>
            <a:ext cx="3506559" cy="23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EC4480-1E05-7D4C-5BE1-12CE4924AA1F}"/>
              </a:ext>
            </a:extLst>
          </p:cNvPr>
          <p:cNvSpPr txBox="1"/>
          <p:nvPr/>
        </p:nvSpPr>
        <p:spPr>
          <a:xfrm>
            <a:off x="519143" y="6153027"/>
            <a:ext cx="6766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 </a:t>
            </a:r>
            <a:r>
              <a:rPr lang="da-DK" sz="1200" dirty="0">
                <a:latin typeface="Abadi" panose="020B0604020104020204" pitchFamily="34" charset="0"/>
              </a:rPr>
              <a:t>J. P. Duarte </a:t>
            </a:r>
            <a:r>
              <a:rPr lang="da-DK" sz="1200" i="1" dirty="0">
                <a:latin typeface="Abadi" panose="020B0604020104020204" pitchFamily="34" charset="0"/>
              </a:rPr>
              <a:t>et al.</a:t>
            </a:r>
            <a:r>
              <a:rPr lang="da-DK" sz="1200" dirty="0">
                <a:latin typeface="Abadi" panose="020B0604020104020204" pitchFamily="34" charset="0"/>
              </a:rPr>
              <a:t>, </a:t>
            </a:r>
            <a:r>
              <a:rPr lang="da-DK" sz="1200" i="1" dirty="0">
                <a:latin typeface="Abadi" panose="020B0604020104020204" pitchFamily="34" charset="0"/>
              </a:rPr>
              <a:t>IEEE TED</a:t>
            </a:r>
            <a:r>
              <a:rPr lang="da-DK" sz="1200" dirty="0">
                <a:latin typeface="Abadi" panose="020B0604020104020204" pitchFamily="34" charset="0"/>
              </a:rPr>
              <a:t>, 2023; S. Mukesh </a:t>
            </a:r>
            <a:r>
              <a:rPr lang="da-DK" sz="1200" i="1" dirty="0">
                <a:latin typeface="Abadi" panose="020B0604020104020204" pitchFamily="34" charset="0"/>
              </a:rPr>
              <a:t>et al.</a:t>
            </a:r>
            <a:r>
              <a:rPr lang="da-DK" sz="1200" dirty="0">
                <a:latin typeface="Abadi" panose="020B0604020104020204" pitchFamily="34" charset="0"/>
              </a:rPr>
              <a:t>, </a:t>
            </a:r>
            <a:r>
              <a:rPr lang="da-DK" sz="1200" i="1" dirty="0">
                <a:latin typeface="Abadi" panose="020B0604020104020204" pitchFamily="34" charset="0"/>
              </a:rPr>
              <a:t>Electronics</a:t>
            </a:r>
            <a:r>
              <a:rPr lang="da-DK" sz="1200" dirty="0">
                <a:latin typeface="Abadi" panose="020B0604020104020204" pitchFamily="34" charset="0"/>
              </a:rPr>
              <a:t>, 2022</a:t>
            </a:r>
            <a:endParaRPr lang="en-IN" sz="1200" dirty="0">
              <a:latin typeface="Abadi" panose="020B0604020104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0989D9-307F-0CFD-43F6-D054EFD7F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005" y="3429000"/>
            <a:ext cx="2736965" cy="23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8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1E015D-6826-B625-A920-85B057117D06}"/>
                  </a:ext>
                </a:extLst>
              </p:cNvPr>
              <p:cNvSpPr txBox="1"/>
              <p:nvPr/>
            </p:nvSpPr>
            <p:spPr>
              <a:xfrm>
                <a:off x="162232" y="757272"/>
                <a:ext cx="5784317" cy="5836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latin typeface="Abadi" panose="020B0604020104020204" pitchFamily="34" charset="0"/>
                  </a:rPr>
                  <a:t> Key Equations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Current Scaling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ar-AE" sz="1600" i="0"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𝑒𝑒𝑡</m:t>
                          </m:r>
                        </m:sub>
                      </m:sSub>
                      <m:r>
                        <a:rPr lang="ar-AE" sz="1600" i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sepChr m:val="⋅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𝑒𝑒𝑡</m:t>
                              </m:r>
                            </m:sub>
                          </m:sSub>
                        </m:e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600" dirty="0">
                  <a:latin typeface="Abadi" panose="020B0604020104020204" pitchFamily="34" charset="0"/>
                </a:endParaRPr>
              </a:p>
              <a:p>
                <a:pPr lvl="1"/>
                <a:r>
                  <a:rPr lang="ar-AE" sz="1600" dirty="0">
                    <a:latin typeface="Abadi" panose="020B0604020104020204" pitchFamily="34" charset="0"/>
                  </a:rPr>
                  <a:t>→ </a:t>
                </a:r>
                <a:r>
                  <a:rPr lang="en-IN" sz="1600" dirty="0">
                    <a:latin typeface="Abadi" panose="020B0604020104020204" pitchFamily="34" charset="0"/>
                  </a:rPr>
                  <a:t>More sheets = higher drive current without larger area.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Electrostatic Integrity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𝑠𝑖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ar-AE" sz="1600" dirty="0">
                  <a:latin typeface="Abadi" panose="020B0604020104020204" pitchFamily="34" charset="0"/>
                </a:endParaRPr>
              </a:p>
              <a:p>
                <a:pPr lvl="1"/>
                <a:r>
                  <a:rPr lang="ar-AE" sz="1600" dirty="0">
                    <a:latin typeface="Abadi" panose="020B0604020104020204" pitchFamily="34" charset="0"/>
                  </a:rPr>
                  <a:t>→ </a:t>
                </a:r>
                <a:r>
                  <a:rPr lang="en-IN" sz="1600" dirty="0">
                    <a:latin typeface="Abadi" panose="020B0604020104020204" pitchFamily="34" charset="0"/>
                  </a:rPr>
                  <a:t>Smaller </a:t>
                </a:r>
                <a:r>
                  <a:rPr lang="el-GR" sz="1600" dirty="0"/>
                  <a:t>λ (≈ 3–5 </a:t>
                </a:r>
                <a:r>
                  <a:rPr lang="en-IN" sz="1600" dirty="0">
                    <a:latin typeface="Abadi" panose="020B0604020104020204" pitchFamily="34" charset="0"/>
                  </a:rPr>
                  <a:t>nm) → better short-channel control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Performance Snapshot</a:t>
                </a:r>
              </a:p>
              <a:p>
                <a:pPr lvl="1"/>
                <a:r>
                  <a:rPr lang="en-IN" sz="1600" dirty="0">
                    <a:latin typeface="Abadi" panose="020B0604020104020204" pitchFamily="34" charset="0"/>
                  </a:rPr>
                  <a:t>SS ≈ 60 mV/dec  DIBL &lt; 30 mV/V  𝐼ₒₙ⁄𝐼ₒff &gt; 10⁷</a:t>
                </a:r>
              </a:p>
              <a:p>
                <a:pPr lvl="1"/>
                <a:r>
                  <a:rPr lang="en-IN" sz="1600" dirty="0">
                    <a:latin typeface="Abadi" panose="020B0604020104020204" pitchFamily="34" charset="0"/>
                  </a:rPr>
                  <a:t>High Iₒₙ from stacking, excellent electrostatics.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600" b="1" dirty="0">
                    <a:latin typeface="Abadi" panose="020B0604020104020204" pitchFamily="34" charset="0"/>
                  </a:rPr>
                  <a:t>Challenges</a:t>
                </a:r>
              </a:p>
              <a:p>
                <a:pPr lvl="1"/>
                <a:r>
                  <a:rPr lang="en-US" sz="1600" dirty="0">
                    <a:latin typeface="Abadi" panose="020B0604020104020204" pitchFamily="34" charset="0"/>
                  </a:rPr>
                  <a:t>Complex epitaxy and selective etch</a:t>
                </a:r>
              </a:p>
              <a:p>
                <a:pPr lvl="1"/>
                <a:r>
                  <a:rPr lang="en-US" sz="1600" dirty="0">
                    <a:latin typeface="Abadi" panose="020B0604020104020204" pitchFamily="34" charset="0"/>
                  </a:rPr>
                  <a:t>Self-heating and strain relaxation</a:t>
                </a:r>
              </a:p>
              <a:p>
                <a:pPr lvl="1"/>
                <a:r>
                  <a:rPr lang="en-US" sz="1600" dirty="0">
                    <a:latin typeface="Abadi" panose="020B0604020104020204" pitchFamily="34" charset="0"/>
                  </a:rPr>
                  <a:t>Logic-only device → no data retention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600" b="1" dirty="0">
                    <a:latin typeface="Abadi" panose="020B0604020104020204" pitchFamily="34" charset="0"/>
                  </a:rPr>
                  <a:t>Takeaway</a:t>
                </a:r>
              </a:p>
              <a:p>
                <a:pPr lvl="1"/>
                <a:r>
                  <a:rPr lang="en-US" sz="1600" dirty="0">
                    <a:latin typeface="Abadi" panose="020B0604020104020204" pitchFamily="34" charset="0"/>
                  </a:rPr>
                  <a:t>GAA nanosheet FETs achieve best-in-class scaling and gate control.</a:t>
                </a:r>
                <a:br>
                  <a:rPr lang="en-US" sz="1600" dirty="0">
                    <a:latin typeface="Abadi" panose="020B0604020104020204" pitchFamily="34" charset="0"/>
                  </a:rPr>
                </a:br>
                <a:r>
                  <a:rPr lang="en-US" sz="1600" dirty="0">
                    <a:latin typeface="Abadi" panose="020B0604020104020204" pitchFamily="34" charset="0"/>
                  </a:rPr>
                  <a:t>Next step: add a ferroelectric layer to realize low-power, non-volatile </a:t>
                </a:r>
                <a:r>
                  <a:rPr lang="en-US" sz="1600" b="1" dirty="0">
                    <a:latin typeface="Abadi" panose="020B0604020104020204" pitchFamily="34" charset="0"/>
                  </a:rPr>
                  <a:t>Fe-Nanosheet FETs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 lvl="1"/>
                <a:endParaRPr lang="en-IN" sz="1400" dirty="0">
                  <a:latin typeface="Abadi" panose="020B0604020104020204" pitchFamily="34" charset="0"/>
                </a:endParaRPr>
              </a:p>
              <a:p>
                <a:pPr>
                  <a:buNone/>
                </a:pPr>
                <a:r>
                  <a:rPr lang="en-IN" dirty="0"/>
                  <a:t>     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1E015D-6826-B625-A920-85B057117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" y="757272"/>
                <a:ext cx="5784317" cy="5836598"/>
              </a:xfrm>
              <a:prstGeom prst="rect">
                <a:avLst/>
              </a:prstGeom>
              <a:blipFill>
                <a:blip r:embed="rId2"/>
                <a:stretch>
                  <a:fillRect l="-422" t="-313" r="-15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8434DD6-6A85-4219-E9ED-E2619D38665A}"/>
              </a:ext>
            </a:extLst>
          </p:cNvPr>
          <p:cNvSpPr txBox="1"/>
          <p:nvPr/>
        </p:nvSpPr>
        <p:spPr>
          <a:xfrm>
            <a:off x="215326" y="264130"/>
            <a:ext cx="6574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GAA FET: Equations and Performance</a:t>
            </a:r>
            <a:endParaRPr lang="en-IN" dirty="0"/>
          </a:p>
        </p:txBody>
      </p:sp>
      <p:pic>
        <p:nvPicPr>
          <p:cNvPr id="13" name="Picture 4" descr="Gate-All-Around (GAA) - AnySilicon">
            <a:extLst>
              <a:ext uri="{FF2B5EF4-FFF2-40B4-BE49-F238E27FC236}">
                <a16:creationId xmlns:a16="http://schemas.microsoft.com/office/drawing/2014/main" id="{9298A75E-3D28-02C6-76CA-6B0BF32DB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9"/>
          <a:stretch>
            <a:fillRect/>
          </a:stretch>
        </p:blipFill>
        <p:spPr bwMode="auto">
          <a:xfrm>
            <a:off x="5823978" y="2371539"/>
            <a:ext cx="3320022" cy="185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6210ED-86E8-5F47-1480-D28DE1D7E709}"/>
              </a:ext>
            </a:extLst>
          </p:cNvPr>
          <p:cNvSpPr txBox="1"/>
          <p:nvPr/>
        </p:nvSpPr>
        <p:spPr>
          <a:xfrm>
            <a:off x="522093" y="6132205"/>
            <a:ext cx="8344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 </a:t>
            </a:r>
            <a:r>
              <a:rPr lang="da-DK" sz="1200" dirty="0">
                <a:latin typeface="Abadi" panose="020B0604020104020204" pitchFamily="34" charset="0"/>
              </a:rPr>
              <a:t>J. P. Duarte </a:t>
            </a:r>
            <a:r>
              <a:rPr lang="da-DK" sz="1200" i="1" dirty="0">
                <a:latin typeface="Abadi" panose="020B0604020104020204" pitchFamily="34" charset="0"/>
              </a:rPr>
              <a:t>et al.</a:t>
            </a:r>
            <a:r>
              <a:rPr lang="da-DK" sz="1200" dirty="0">
                <a:latin typeface="Abadi" panose="020B0604020104020204" pitchFamily="34" charset="0"/>
              </a:rPr>
              <a:t>, </a:t>
            </a:r>
            <a:r>
              <a:rPr lang="da-DK" sz="1200" i="1" dirty="0">
                <a:latin typeface="Abadi" panose="020B0604020104020204" pitchFamily="34" charset="0"/>
              </a:rPr>
              <a:t>IEEE TED</a:t>
            </a:r>
            <a:r>
              <a:rPr lang="da-DK" sz="1200" dirty="0">
                <a:latin typeface="Abadi" panose="020B0604020104020204" pitchFamily="34" charset="0"/>
              </a:rPr>
              <a:t>, 2023; S. Mukesh </a:t>
            </a:r>
            <a:r>
              <a:rPr lang="da-DK" sz="1200" i="1" dirty="0">
                <a:latin typeface="Abadi" panose="020B0604020104020204" pitchFamily="34" charset="0"/>
              </a:rPr>
              <a:t>et al.</a:t>
            </a:r>
            <a:r>
              <a:rPr lang="da-DK" sz="1200" dirty="0">
                <a:latin typeface="Abadi" panose="020B0604020104020204" pitchFamily="34" charset="0"/>
              </a:rPr>
              <a:t>, </a:t>
            </a:r>
            <a:r>
              <a:rPr lang="da-DK" sz="1200" i="1" dirty="0">
                <a:latin typeface="Abadi" panose="020B0604020104020204" pitchFamily="34" charset="0"/>
              </a:rPr>
              <a:t>Electronics</a:t>
            </a:r>
            <a:r>
              <a:rPr lang="da-DK" sz="1200" dirty="0">
                <a:latin typeface="Abadi" panose="020B0604020104020204" pitchFamily="34" charset="0"/>
              </a:rPr>
              <a:t>, 2022</a:t>
            </a:r>
            <a:endParaRPr lang="en-IN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97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CF0EB-040F-DD33-C794-11179BA8223C}"/>
              </a:ext>
            </a:extLst>
          </p:cNvPr>
          <p:cNvSpPr txBox="1"/>
          <p:nvPr/>
        </p:nvSpPr>
        <p:spPr>
          <a:xfrm>
            <a:off x="262523" y="146095"/>
            <a:ext cx="720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" panose="020B0604020104020204" pitchFamily="34" charset="0"/>
              </a:rPr>
              <a:t>Ferroelectric FET (</a:t>
            </a:r>
            <a:r>
              <a:rPr lang="en-US" b="1" dirty="0" err="1">
                <a:latin typeface="Abadi" panose="020B0604020104020204" pitchFamily="34" charset="0"/>
              </a:rPr>
              <a:t>FeFET</a:t>
            </a:r>
            <a:r>
              <a:rPr lang="en-US" b="1" dirty="0">
                <a:latin typeface="Abadi" panose="020B0604020104020204" pitchFamily="34" charset="0"/>
              </a:rPr>
              <a:t>): Concept and Physics</a:t>
            </a:r>
            <a:endParaRPr lang="en-IN" b="1" dirty="0">
              <a:latin typeface="Abadi" panose="020B06040201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76AD1-7C4A-E133-4BDA-7CB19AB36AFA}"/>
                  </a:ext>
                </a:extLst>
              </p:cNvPr>
              <p:cNvSpPr txBox="1"/>
              <p:nvPr/>
            </p:nvSpPr>
            <p:spPr>
              <a:xfrm>
                <a:off x="262523" y="607760"/>
                <a:ext cx="5153085" cy="610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500" b="1" dirty="0">
                    <a:latin typeface="Abadi" panose="020B0604020104020204" pitchFamily="34" charset="0"/>
                  </a:rPr>
                  <a:t>Concept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A </a:t>
                </a:r>
                <a:r>
                  <a:rPr lang="en-IN" sz="1500" dirty="0" err="1">
                    <a:latin typeface="Abadi" panose="020B0604020104020204" pitchFamily="34" charset="0"/>
                  </a:rPr>
                  <a:t>FeFET</a:t>
                </a:r>
                <a:r>
                  <a:rPr lang="en-IN" sz="1500" dirty="0">
                    <a:latin typeface="Abadi" panose="020B0604020104020204" pitchFamily="34" charset="0"/>
                  </a:rPr>
                  <a:t> replaces the gate oxide with ferroelectric Hf₀.₅Zr₀.₅O₂, storing charge via remanent polarization (±Pᵣ).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500" dirty="0">
                    <a:latin typeface="Abadi" panose="020B0604020104020204" pitchFamily="34" charset="0"/>
                  </a:rPr>
                  <a:t>When voltage is applied, dipoles align, creating two stable polarizations ± Pᵣ. These shift the threshold voltage: logic “1” = +Pᵣ, “0” = –Pᵣ</a:t>
                </a:r>
                <a:endParaRPr lang="en-IN" sz="1500" dirty="0">
                  <a:latin typeface="Abadi" panose="020B0604020104020204" pitchFamily="34" charset="0"/>
                </a:endParaRPr>
              </a:p>
              <a:p>
                <a:r>
                  <a:rPr lang="en-IN" sz="1500" b="1" dirty="0">
                    <a:latin typeface="Abadi" panose="020B0604020104020204" pitchFamily="34" charset="0"/>
                  </a:rPr>
                  <a:t>Physics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Ferroelectric </a:t>
                </a:r>
                <a:r>
                  <a:rPr lang="en-IN" sz="1500" dirty="0" err="1">
                    <a:latin typeface="Abadi" panose="020B0604020104020204" pitchFamily="34" charset="0"/>
                  </a:rPr>
                  <a:t>behavior</a:t>
                </a:r>
                <a:r>
                  <a:rPr lang="en-IN" sz="1500" dirty="0">
                    <a:latin typeface="Abadi" panose="020B0604020104020204" pitchFamily="34" charset="0"/>
                  </a:rPr>
                  <a:t> follows the Landau–Devonshire model: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500" i="1"/>
                          </m:ctrlPr>
                        </m:dPr>
                        <m:e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ar-AE" sz="1500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5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ar-AE" sz="1500" i="1"/>
                          </m:ctrlPr>
                        </m:sSupPr>
                        <m:e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500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5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ar-AE" sz="1500" i="1"/>
                          </m:ctrlPr>
                        </m:sSupPr>
                        <m:e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1500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5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ar-AE" sz="1500" i="1"/>
                          </m:ctrlPr>
                        </m:sSupPr>
                        <m:e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ar-AE" sz="1500" b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500" b="0" i="1" smtClean="0">
                          <a:latin typeface="Cambria Math" panose="02040503050406030204" pitchFamily="18" charset="0"/>
                        </a:rPr>
                        <m:t>𝐸𝑃</m:t>
                      </m:r>
                    </m:oMath>
                  </m:oMathPara>
                </a14:m>
                <a:endParaRPr lang="en-IN" sz="1500" dirty="0">
                  <a:latin typeface="Abadi" panose="020B0604020104020204" pitchFamily="34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Negative curvature in </a:t>
                </a:r>
                <a14:m>
                  <m:oMath xmlns:m="http://schemas.openxmlformats.org/officeDocument/2006/math">
                    <m:r>
                      <a:rPr lang="en-IN" sz="1500" b="0" i="1"/>
                      <m:t>𝐹</m:t>
                    </m:r>
                    <m:d>
                      <m:dPr>
                        <m:ctrlPr>
                          <a:rPr lang="ar-AE" sz="1500" i="1"/>
                        </m:ctrlPr>
                      </m:dPr>
                      <m:e>
                        <m:r>
                          <a:rPr lang="ar-AE" sz="1500" b="0" i="1"/>
                          <m:t>𝑃</m:t>
                        </m:r>
                      </m:e>
                    </m:d>
                  </m:oMath>
                </a14:m>
                <a:r>
                  <a:rPr lang="ar-AE" sz="1500" dirty="0">
                    <a:latin typeface="Abadi" panose="020B0604020104020204" pitchFamily="34" charset="0"/>
                  </a:rPr>
                  <a:t>→ </a:t>
                </a:r>
                <a:r>
                  <a:rPr lang="en-IN" sz="1500" dirty="0">
                    <a:latin typeface="Abadi" panose="020B0604020104020204" pitchFamily="34" charset="0"/>
                  </a:rPr>
                  <a:t>negative capacitance region yields NC → voltage amplification → sub-60 mV/dec switching giving voltage amplification and steep slope.</a:t>
                </a:r>
                <a:br>
                  <a:rPr lang="en-IN" sz="1500" dirty="0">
                    <a:latin typeface="Abadi" panose="020B0604020104020204" pitchFamily="34" charset="0"/>
                  </a:rPr>
                </a:br>
                <a:r>
                  <a:rPr lang="en-IN" sz="1500" dirty="0" err="1">
                    <a:latin typeface="Abadi" panose="020B0604020104020204" pitchFamily="34" charset="0"/>
                  </a:rPr>
                  <a:t>FeFETs</a:t>
                </a:r>
                <a:r>
                  <a:rPr lang="en-IN" sz="1500" dirty="0">
                    <a:latin typeface="Abadi" panose="020B0604020104020204" pitchFamily="34" charset="0"/>
                  </a:rPr>
                  <a:t> thus offer non-volatility + energy reduction.</a:t>
                </a:r>
              </a:p>
              <a:p>
                <a:r>
                  <a:rPr lang="en-IN" sz="1500" b="1" dirty="0">
                    <a:latin typeface="Abadi" panose="020B0604020104020204" pitchFamily="34" charset="0"/>
                  </a:rPr>
                  <a:t>Key Points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Advantages: Non-volatile logic, faster switching, lower VDD (~0.3–0.5 V).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Limitations: Retention loss, interface traps, weaker electrostatics in planar/</a:t>
                </a:r>
                <a:r>
                  <a:rPr lang="en-IN" sz="1500" dirty="0" err="1">
                    <a:latin typeface="Abadi" panose="020B0604020104020204" pitchFamily="34" charset="0"/>
                  </a:rPr>
                  <a:t>FinFET</a:t>
                </a:r>
                <a:r>
                  <a:rPr lang="en-IN" sz="1500" dirty="0">
                    <a:latin typeface="Abadi" panose="020B0604020104020204" pitchFamily="34" charset="0"/>
                  </a:rPr>
                  <a:t>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Motivation: Combining </a:t>
                </a:r>
                <a:r>
                  <a:rPr lang="en-IN" sz="1500" dirty="0" err="1">
                    <a:latin typeface="Abadi" panose="020B0604020104020204" pitchFamily="34" charset="0"/>
                  </a:rPr>
                  <a:t>FeFET</a:t>
                </a:r>
                <a:r>
                  <a:rPr lang="en-IN" sz="1500" dirty="0">
                    <a:latin typeface="Abadi" panose="020B0604020104020204" pitchFamily="34" charset="0"/>
                  </a:rPr>
                  <a:t> with GAA nanosheets →</a:t>
                </a:r>
              </a:p>
              <a:p>
                <a:r>
                  <a:rPr lang="en-IN" sz="1500" dirty="0">
                    <a:latin typeface="Abadi" panose="020B0604020104020204" pitchFamily="34" charset="0"/>
                  </a:rPr>
                  <a:t>      Fe-NS FET for better control and functionality.</a:t>
                </a:r>
              </a:p>
              <a:p>
                <a:endParaRPr lang="en-IN" sz="1400" dirty="0">
                  <a:latin typeface="Abadi" panose="020B0604020104020204" pitchFamily="34" charset="0"/>
                </a:endParaRPr>
              </a:p>
              <a:p>
                <a:endParaRPr lang="en-IN" sz="1600" dirty="0">
                  <a:latin typeface="Abadi" panose="020B0604020104020204" pitchFamily="34" charset="0"/>
                </a:endParaRPr>
              </a:p>
              <a:p>
                <a:pPr>
                  <a:buNone/>
                </a:pPr>
                <a:endParaRPr lang="en-US" sz="1600" b="1" dirty="0"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76AD1-7C4A-E133-4BDA-7CB19AB36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3" y="607760"/>
                <a:ext cx="5153085" cy="6109365"/>
              </a:xfrm>
              <a:prstGeom prst="rect">
                <a:avLst/>
              </a:prstGeom>
              <a:blipFill>
                <a:blip r:embed="rId2"/>
                <a:stretch>
                  <a:fillRect l="-473" t="-299" r="-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A837CEE-E277-B996-883D-F5C6AB738D03}"/>
              </a:ext>
            </a:extLst>
          </p:cNvPr>
          <p:cNvSpPr txBox="1"/>
          <p:nvPr/>
        </p:nvSpPr>
        <p:spPr>
          <a:xfrm>
            <a:off x="477847" y="6176788"/>
            <a:ext cx="73800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</a:t>
            </a:r>
            <a:r>
              <a:rPr lang="en-IN" sz="1200" dirty="0">
                <a:latin typeface="Abadi" panose="020B0604020104020204" pitchFamily="34" charset="0"/>
              </a:rPr>
              <a:t> </a:t>
            </a:r>
            <a:r>
              <a:rPr lang="en-IN" sz="1200" dirty="0" err="1">
                <a:latin typeface="Abadi" panose="020B0604020104020204" pitchFamily="34" charset="0"/>
              </a:rPr>
              <a:t>Böscke</a:t>
            </a:r>
            <a:r>
              <a:rPr lang="en-IN" sz="1200" dirty="0">
                <a:latin typeface="Abadi" panose="020B0604020104020204" pitchFamily="34" charset="0"/>
              </a:rPr>
              <a:t> et al., </a:t>
            </a:r>
            <a:r>
              <a:rPr lang="en-IN" sz="1200" i="1" dirty="0">
                <a:latin typeface="Abadi" panose="020B0604020104020204" pitchFamily="34" charset="0"/>
              </a:rPr>
              <a:t>Appl. Phys. Lett.</a:t>
            </a:r>
            <a:r>
              <a:rPr lang="en-IN" sz="1200" dirty="0">
                <a:latin typeface="Abadi" panose="020B0604020104020204" pitchFamily="34" charset="0"/>
              </a:rPr>
              <a:t> 2011; Salahuddin &amp; Datta, </a:t>
            </a:r>
            <a:r>
              <a:rPr lang="en-IN" sz="1200" i="1" dirty="0">
                <a:latin typeface="Abadi" panose="020B0604020104020204" pitchFamily="34" charset="0"/>
              </a:rPr>
              <a:t>Nano Lett.</a:t>
            </a:r>
            <a:r>
              <a:rPr lang="en-IN" sz="1200" dirty="0">
                <a:latin typeface="Abadi" panose="020B0604020104020204" pitchFamily="34" charset="0"/>
              </a:rPr>
              <a:t> 2008</a:t>
            </a:r>
          </a:p>
        </p:txBody>
      </p:sp>
      <p:pic>
        <p:nvPicPr>
          <p:cNvPr id="199682" name="Picture 2" descr="FeFET (a) structure and (b) equivalent circuit. | Download Scientific  Diagram">
            <a:extLst>
              <a:ext uri="{FF2B5EF4-FFF2-40B4-BE49-F238E27FC236}">
                <a16:creationId xmlns:a16="http://schemas.microsoft.com/office/drawing/2014/main" id="{CE5A1F3A-F524-A5CB-FDF8-ED6A09FFE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936" y="1409802"/>
            <a:ext cx="3371479" cy="169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684" name="Picture 4" descr="What Are FeFETs?">
            <a:extLst>
              <a:ext uri="{FF2B5EF4-FFF2-40B4-BE49-F238E27FC236}">
                <a16:creationId xmlns:a16="http://schemas.microsoft.com/office/drawing/2014/main" id="{FF795E01-D576-E0B5-6116-D0BC79E17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803" y="3505691"/>
            <a:ext cx="3575744" cy="143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36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541D3-4A36-033F-B5BE-A1D7616DCC45}"/>
              </a:ext>
            </a:extLst>
          </p:cNvPr>
          <p:cNvSpPr txBox="1"/>
          <p:nvPr/>
        </p:nvSpPr>
        <p:spPr>
          <a:xfrm>
            <a:off x="237230" y="69062"/>
            <a:ext cx="9241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" panose="020B0604020104020204" pitchFamily="34" charset="0"/>
              </a:rPr>
              <a:t>Ferroelectric Nanosheet FET (Fe-NS FET): </a:t>
            </a:r>
          </a:p>
          <a:p>
            <a:r>
              <a:rPr lang="en-US" b="1" dirty="0">
                <a:latin typeface="Abadi" panose="020B0604020104020204" pitchFamily="34" charset="0"/>
              </a:rPr>
              <a:t>The Next Step</a:t>
            </a:r>
            <a:endParaRPr lang="en-IN" b="1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BD798-9CAF-F7F6-74A5-22A9AB3CE4C3}"/>
              </a:ext>
            </a:extLst>
          </p:cNvPr>
          <p:cNvSpPr txBox="1"/>
          <p:nvPr/>
        </p:nvSpPr>
        <p:spPr>
          <a:xfrm>
            <a:off x="237230" y="1062588"/>
            <a:ext cx="495420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Abadi" panose="020B0604020104020204" pitchFamily="34" charset="0"/>
              </a:rPr>
              <a:t>Why Combine Ferroelectric and Nanosheet Architectures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Abadi" panose="020B0604020104020204" pitchFamily="34" charset="0"/>
              </a:rPr>
              <a:t>Gate-All-Around (GAA) nanosheet FETs offer the best electrostatic control by fully surrounding the channel.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Abadi" panose="020B0604020104020204" pitchFamily="34" charset="0"/>
              </a:rPr>
              <a:t>Even the GAA device cannot break the </a:t>
            </a:r>
            <a:r>
              <a:rPr lang="en-IN" sz="1400" i="1" dirty="0">
                <a:latin typeface="Abadi" panose="020B0604020104020204" pitchFamily="34" charset="0"/>
              </a:rPr>
              <a:t>Boltzmann sub-threshold slope limit</a:t>
            </a:r>
            <a:r>
              <a:rPr lang="en-IN" sz="1400" dirty="0">
                <a:latin typeface="Abadi" panose="020B0604020104020204" pitchFamily="34" charset="0"/>
              </a:rPr>
              <a:t> (≈ 60 mV/dec) that governs thermionic carriers.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Abadi" panose="020B0604020104020204" pitchFamily="34" charset="0"/>
              </a:rPr>
              <a:t>Adding a </a:t>
            </a:r>
            <a:r>
              <a:rPr lang="en-IN" sz="1400" b="1" dirty="0">
                <a:latin typeface="Abadi" panose="020B0604020104020204" pitchFamily="34" charset="0"/>
              </a:rPr>
              <a:t>ferroelectric layer (e.g., Hf₀.₅Zr₀.₅O₂)</a:t>
            </a:r>
            <a:r>
              <a:rPr lang="en-IN" sz="1400" dirty="0">
                <a:latin typeface="Abadi" panose="020B0604020104020204" pitchFamily="34" charset="0"/>
              </a:rPr>
              <a:t> introduces a </a:t>
            </a:r>
            <a:r>
              <a:rPr lang="en-IN" sz="1400" i="1" dirty="0">
                <a:latin typeface="Abadi" panose="020B0604020104020204" pitchFamily="34" charset="0"/>
              </a:rPr>
              <a:t>negative capacitance (NC)</a:t>
            </a:r>
            <a:r>
              <a:rPr lang="en-IN" sz="1400" dirty="0">
                <a:latin typeface="Abadi" panose="020B0604020104020204" pitchFamily="34" charset="0"/>
              </a:rPr>
              <a:t> region, which amplifies gate voltage internally—producing </a:t>
            </a:r>
            <a:r>
              <a:rPr lang="en-IN" sz="1400" b="1" dirty="0">
                <a:latin typeface="Abadi" panose="020B0604020104020204" pitchFamily="34" charset="0"/>
              </a:rPr>
              <a:t>steeper subthreshold slopes (&lt; 60 mV/dec)</a:t>
            </a:r>
            <a:r>
              <a:rPr lang="en-IN" sz="1400" dirty="0">
                <a:latin typeface="Abadi" panose="020B0604020104020204" pitchFamily="34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Abadi" panose="020B0604020104020204" pitchFamily="34" charset="0"/>
              </a:rPr>
              <a:t>Combining both 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badi" panose="020B0604020104020204" pitchFamily="34" charset="0"/>
              </a:rPr>
              <a:t>GAA geometry→ perfect electrostatics &amp;     scalability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badi" panose="020B0604020104020204" pitchFamily="34" charset="0"/>
              </a:rPr>
              <a:t>Ferroelectric gate → new functionality: non-volatile   polarization &amp; voltage gain</a:t>
            </a:r>
          </a:p>
          <a:p>
            <a:r>
              <a:rPr lang="en-IN" sz="1400" b="1" dirty="0">
                <a:latin typeface="Abadi" panose="020B0604020104020204" pitchFamily="34" charset="0"/>
              </a:rPr>
              <a:t>Structure and Materials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Abadi" panose="020B0604020104020204" pitchFamily="34" charset="0"/>
              </a:rPr>
              <a:t>Metal Gate: </a:t>
            </a:r>
            <a:r>
              <a:rPr lang="en-IN" sz="1400" dirty="0">
                <a:latin typeface="Abadi" panose="020B0604020104020204" pitchFamily="34" charset="0"/>
              </a:rPr>
              <a:t>provides work-function tuning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badi" panose="020B0604020104020204" pitchFamily="34" charset="0"/>
              </a:rPr>
              <a:t>Ferroelectric Layer:</a:t>
            </a:r>
            <a:r>
              <a:rPr lang="en-US" sz="1400" dirty="0">
                <a:latin typeface="Abadi" panose="020B0604020104020204" pitchFamily="34" charset="0"/>
              </a:rPr>
              <a:t> switchable polarization (± Pᵣ)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Abadi" panose="020B0604020104020204" pitchFamily="34" charset="0"/>
              </a:rPr>
              <a:t>Interfacial Oxide:</a:t>
            </a:r>
            <a:r>
              <a:rPr lang="en-IN" sz="1400" dirty="0">
                <a:latin typeface="Abadi" panose="020B0604020104020204" pitchFamily="34" charset="0"/>
              </a:rPr>
              <a:t> ensures stability &amp; leakage suppression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badi" panose="020B0604020104020204" pitchFamily="34" charset="0"/>
              </a:rPr>
              <a:t>Nanosheet Channel:</a:t>
            </a:r>
            <a:r>
              <a:rPr lang="en-US" sz="1400" dirty="0">
                <a:latin typeface="Abadi" panose="020B0604020104020204" pitchFamily="34" charset="0"/>
              </a:rPr>
              <a:t> high mobility Si/SiGe stacked layers fully enclosed by gate</a:t>
            </a:r>
          </a:p>
          <a:p>
            <a:endParaRPr lang="en-IN" sz="1400" b="1" dirty="0">
              <a:latin typeface="Abadi" panose="020B0604020104020204" pitchFamily="34" charset="0"/>
            </a:endParaRPr>
          </a:p>
          <a:p>
            <a:pPr algn="just"/>
            <a:endParaRPr lang="en-IN" sz="1400" b="1" dirty="0">
              <a:latin typeface="Abadi" panose="020B06040201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6451C-AFB8-9418-C43B-397D5C8D95AB}"/>
              </a:ext>
            </a:extLst>
          </p:cNvPr>
          <p:cNvSpPr txBox="1"/>
          <p:nvPr/>
        </p:nvSpPr>
        <p:spPr>
          <a:xfrm>
            <a:off x="532416" y="6187068"/>
            <a:ext cx="56855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</a:t>
            </a:r>
            <a:r>
              <a:rPr lang="en-IN" sz="1200" dirty="0">
                <a:latin typeface="Abadi" panose="020B0604020104020204" pitchFamily="34" charset="0"/>
              </a:rPr>
              <a:t> P.-Y. Chen et al., </a:t>
            </a:r>
            <a:r>
              <a:rPr lang="en-IN" sz="1200" i="1" dirty="0">
                <a:latin typeface="Abadi" panose="020B0604020104020204" pitchFamily="34" charset="0"/>
              </a:rPr>
              <a:t>Adv. </a:t>
            </a:r>
            <a:r>
              <a:rPr lang="en-IN" sz="1200" i="1" dirty="0" err="1">
                <a:latin typeface="Abadi" panose="020B0604020104020204" pitchFamily="34" charset="0"/>
              </a:rPr>
              <a:t>Funct</a:t>
            </a:r>
            <a:r>
              <a:rPr lang="en-IN" sz="1200" i="1" dirty="0">
                <a:latin typeface="Abadi" panose="020B0604020104020204" pitchFamily="34" charset="0"/>
              </a:rPr>
              <a:t>. Mater.</a:t>
            </a:r>
            <a:r>
              <a:rPr lang="en-IN" sz="1200" dirty="0">
                <a:latin typeface="Abadi" panose="020B0604020104020204" pitchFamily="34" charset="0"/>
              </a:rPr>
              <a:t> 2024; Cheng et al., </a:t>
            </a:r>
            <a:r>
              <a:rPr lang="en-IN" sz="1200" i="1" dirty="0">
                <a:latin typeface="Abadi" panose="020B0604020104020204" pitchFamily="34" charset="0"/>
              </a:rPr>
              <a:t>IEEE EDL</a:t>
            </a:r>
            <a:r>
              <a:rPr lang="en-IN" sz="1200" dirty="0">
                <a:latin typeface="Abadi" panose="020B0604020104020204" pitchFamily="34" charset="0"/>
              </a:rPr>
              <a:t> 2025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EECF73-E7A5-CB57-B2F4-6BA3FABB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863" y="1425069"/>
            <a:ext cx="3896907" cy="17439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97F7ED-92D2-3402-F25C-CE7C554FB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321" y="3694077"/>
            <a:ext cx="2499990" cy="176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0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142B8F-FFAF-B1D4-0283-EDD2B2180A07}"/>
                  </a:ext>
                </a:extLst>
              </p:cNvPr>
              <p:cNvSpPr txBox="1"/>
              <p:nvPr/>
            </p:nvSpPr>
            <p:spPr>
              <a:xfrm>
                <a:off x="241873" y="265831"/>
                <a:ext cx="8742844" cy="6373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latin typeface="Abadi" panose="020B0604020104020204" pitchFamily="34" charset="0"/>
                  </a:rPr>
                  <a:t>Underlying Physics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The NC effect follows a </a:t>
                </a:r>
                <a:r>
                  <a:rPr lang="en-IN" sz="1600" i="1" dirty="0">
                    <a:latin typeface="Abadi" panose="020B0604020104020204" pitchFamily="34" charset="0"/>
                  </a:rPr>
                  <a:t>series-capacitance relation</a:t>
                </a:r>
                <a:r>
                  <a:rPr lang="en-IN" sz="1600" dirty="0">
                    <a:latin typeface="Abadi" panose="020B0604020104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ar-AE" sz="1600" dirty="0">
                  <a:latin typeface="Abadi" panose="020B0604020104020204" pitchFamily="34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𝐹𝐸</m:t>
                        </m:r>
                      </m:sub>
                    </m:sSub>
                    <m:r>
                      <m:rPr>
                        <m:nor/>
                      </m:rPr>
                      <a:rPr lang="ar-AE" sz="1600" i="1">
                        <a:latin typeface="Abadi" panose="020B0604020104020204" pitchFamily="34" charset="0"/>
                      </a:rPr>
                      <m:t> 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ar-AE" sz="1600" i="1">
                        <a:latin typeface="Abadi" panose="020B0604020104020204" pitchFamily="34" charset="0"/>
                      </a:rPr>
                      <m:t> 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, </a:t>
                </a:r>
                <a:r>
                  <a:rPr lang="en-IN" sz="1600" dirty="0">
                    <a:latin typeface="Abadi" panose="020B0604020104020204" pitchFamily="34" charset="0"/>
                  </a:rPr>
                  <a:t>the overall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en-IN" sz="1600" dirty="0">
                    <a:latin typeface="Abadi" panose="020B0604020104020204" pitchFamily="34" charset="0"/>
                  </a:rPr>
                  <a:t>increases, leading to </a:t>
                </a:r>
                <a:r>
                  <a:rPr lang="en-IN" sz="1600" b="1" dirty="0">
                    <a:latin typeface="Abadi" panose="020B0604020104020204" pitchFamily="34" charset="0"/>
                  </a:rPr>
                  <a:t>internal voltage amplification</a:t>
                </a:r>
                <a:r>
                  <a:rPr lang="en-IN" sz="1600" dirty="0">
                    <a:latin typeface="Abadi" panose="020B0604020104020204" pitchFamily="34" charset="0"/>
                  </a:rPr>
                  <a:t> across the channel.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Landau energy: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𝐸𝑃</m:t>
                      </m:r>
                    </m:oMath>
                  </m:oMathPara>
                </a14:m>
                <a:endParaRPr lang="ar-AE" sz="1600" dirty="0">
                  <a:latin typeface="Abadi" panose="020B0604020104020204" pitchFamily="34" charset="0"/>
                </a:endParaRPr>
              </a:p>
              <a:p>
                <a:pPr lvl="1"/>
                <a:r>
                  <a:rPr lang="en-IN" sz="1600" dirty="0">
                    <a:latin typeface="Abadi" panose="020B0604020104020204" pitchFamily="34" charset="0"/>
                  </a:rPr>
                  <a:t>shows a double-well potential → two stable polarization states (± Pᵣ) usable as memory bits.</a:t>
                </a: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Key Benefits of Fe-NS FET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Sub-60 mV/dec switching:</a:t>
                </a:r>
                <a:r>
                  <a:rPr lang="en-IN" sz="1600" dirty="0">
                    <a:latin typeface="Abadi" panose="020B0604020104020204" pitchFamily="34" charset="0"/>
                  </a:rPr>
                  <a:t> due to negative capacitance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Non-volatile memory:</a:t>
                </a:r>
                <a:r>
                  <a:rPr lang="en-IN" sz="1600" dirty="0">
                    <a:latin typeface="Abadi" panose="020B0604020104020204" pitchFamily="34" charset="0"/>
                  </a:rPr>
                  <a:t> polarization remains even when power is off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Ultra-low VDD (0.3–0.5 V):</a:t>
                </a:r>
                <a:r>
                  <a:rPr lang="en-IN" sz="1600" dirty="0">
                    <a:latin typeface="Abadi" panose="020B0604020104020204" pitchFamily="34" charset="0"/>
                  </a:rPr>
                  <a:t> ≈ 40–60 % dynamic-power reduction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Uniform electrostatics:</a:t>
                </a:r>
                <a:r>
                  <a:rPr lang="en-IN" sz="1600" dirty="0">
                    <a:latin typeface="Abadi" panose="020B0604020104020204" pitchFamily="34" charset="0"/>
                  </a:rPr>
                  <a:t> each nanosheet fully gated → minimal leakage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Scalable below 2 nm:</a:t>
                </a:r>
                <a:r>
                  <a:rPr lang="en-IN" sz="1600" dirty="0">
                    <a:latin typeface="Abadi" panose="020B0604020104020204" pitchFamily="34" charset="0"/>
                  </a:rPr>
                  <a:t> ferroelectric </a:t>
                </a:r>
                <a:r>
                  <a:rPr lang="en-IN" sz="1600" dirty="0" err="1">
                    <a:latin typeface="Abadi" panose="020B0604020104020204" pitchFamily="34" charset="0"/>
                  </a:rPr>
                  <a:t>HfZrO</a:t>
                </a:r>
                <a:r>
                  <a:rPr lang="en-IN" sz="1600" dirty="0">
                    <a:latin typeface="Abadi" panose="020B0604020104020204" pitchFamily="34" charset="0"/>
                  </a:rPr>
                  <a:t>₂ films ~10 nm compatible with CMOS processes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b="1" dirty="0">
                    <a:latin typeface="Abadi" panose="020B0604020104020204" pitchFamily="34" charset="0"/>
                  </a:rPr>
                  <a:t>Reconfigurability:</a:t>
                </a:r>
                <a:r>
                  <a:rPr lang="en-IN" sz="1600" dirty="0">
                    <a:latin typeface="Abadi" panose="020B0604020104020204" pitchFamily="34" charset="0"/>
                  </a:rPr>
                  <a:t> switching P state modulates Vₜ → useful for logic-in-memory and neuromorphic hardware</a:t>
                </a: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System-Level Impact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Fe-NS FET bridges logic and memory in one device—reducing data movement energy in CPUs and accelerators.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It enables non-volatile, low-power systems for AI edge devices and IoT nodes.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dirty="0">
                    <a:latin typeface="Abadi" panose="020B0604020104020204" pitchFamily="34" charset="0"/>
                  </a:rPr>
                  <a:t>With optimized interface engineering and </a:t>
                </a:r>
                <a:r>
                  <a:rPr lang="en-IN" sz="1600" dirty="0" err="1">
                    <a:latin typeface="Abadi" panose="020B0604020104020204" pitchFamily="34" charset="0"/>
                  </a:rPr>
                  <a:t>HfZrO</a:t>
                </a:r>
                <a:r>
                  <a:rPr lang="en-IN" sz="1600" dirty="0">
                    <a:latin typeface="Abadi" panose="020B0604020104020204" pitchFamily="34" charset="0"/>
                  </a:rPr>
                  <a:t>₂ thickness control, prototypes demonstrate &gt;10⁸ cycles endurance and multi-bit operation</a:t>
                </a:r>
              </a:p>
              <a:p>
                <a:endParaRPr lang="en-IN" sz="1600" dirty="0">
                  <a:latin typeface="Abadi" panose="020B0604020104020204" pitchFamily="34" charset="0"/>
                </a:endParaRPr>
              </a:p>
              <a:p>
                <a:r>
                  <a:rPr lang="en-IN" sz="1200" b="1" dirty="0">
                    <a:latin typeface="Abadi" panose="020B0604020104020204" pitchFamily="34" charset="0"/>
                  </a:rPr>
                  <a:t>      Refs:</a:t>
                </a:r>
                <a:r>
                  <a:rPr lang="en-IN" sz="1200" dirty="0">
                    <a:latin typeface="Abadi" panose="020B0604020104020204" pitchFamily="34" charset="0"/>
                  </a:rPr>
                  <a:t> P.-Y. Chen et al., </a:t>
                </a:r>
                <a:r>
                  <a:rPr lang="en-IN" sz="1200" i="1" dirty="0">
                    <a:latin typeface="Abadi" panose="020B0604020104020204" pitchFamily="34" charset="0"/>
                  </a:rPr>
                  <a:t>Adv. </a:t>
                </a:r>
                <a:r>
                  <a:rPr lang="en-IN" sz="1200" i="1" dirty="0" err="1">
                    <a:latin typeface="Abadi" panose="020B0604020104020204" pitchFamily="34" charset="0"/>
                  </a:rPr>
                  <a:t>Funct</a:t>
                </a:r>
                <a:r>
                  <a:rPr lang="en-IN" sz="1200" i="1" dirty="0">
                    <a:latin typeface="Abadi" panose="020B0604020104020204" pitchFamily="34" charset="0"/>
                  </a:rPr>
                  <a:t>. Mater.</a:t>
                </a:r>
                <a:r>
                  <a:rPr lang="en-IN" sz="1200" dirty="0">
                    <a:latin typeface="Abadi" panose="020B0604020104020204" pitchFamily="34" charset="0"/>
                  </a:rPr>
                  <a:t> 2024; Cheng et al., </a:t>
                </a:r>
                <a:r>
                  <a:rPr lang="en-IN" sz="1200" i="1" dirty="0">
                    <a:latin typeface="Abadi" panose="020B0604020104020204" pitchFamily="34" charset="0"/>
                  </a:rPr>
                  <a:t>IEEE EDL</a:t>
                </a:r>
                <a:r>
                  <a:rPr lang="en-IN" sz="1200" dirty="0">
                    <a:latin typeface="Abadi" panose="020B0604020104020204" pitchFamily="34" charset="0"/>
                  </a:rPr>
                  <a:t> 2025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142B8F-FFAF-B1D4-0283-EDD2B2180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73" y="265831"/>
                <a:ext cx="8742844" cy="6373924"/>
              </a:xfrm>
              <a:prstGeom prst="rect">
                <a:avLst/>
              </a:prstGeom>
              <a:blipFill>
                <a:blip r:embed="rId2"/>
                <a:stretch>
                  <a:fillRect l="-418" t="-287" r="-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92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DDBD8A-A443-B804-80BF-DC5E2EA5B7E5}"/>
                  </a:ext>
                </a:extLst>
              </p:cNvPr>
              <p:cNvSpPr txBox="1"/>
              <p:nvPr/>
            </p:nvSpPr>
            <p:spPr>
              <a:xfrm>
                <a:off x="522093" y="627254"/>
                <a:ext cx="5831512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latin typeface="Abadi" panose="020B0604020104020204" pitchFamily="34" charset="0"/>
                  </a:rPr>
                  <a:t>Electrostatics:</a:t>
                </a:r>
                <a:r>
                  <a:rPr lang="en-IN" sz="1600" dirty="0">
                    <a:latin typeface="Abadi" panose="020B0604020104020204" pitchFamily="34" charset="0"/>
                  </a:rPr>
                  <a:t> Full gate + negative capacitance → superior control even at &lt; 2 nm.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Energy:</a:t>
                </a:r>
                <a:r>
                  <a:rPr lang="en-IN" sz="1600" dirty="0">
                    <a:latin typeface="Abadi" panose="020B0604020104020204" pitchFamily="34" charset="0"/>
                  </a:rPr>
                  <a:t> Sub-Boltzmann SS enables ultra-low-voltage logic.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Functionality:</a:t>
                </a:r>
                <a:r>
                  <a:rPr lang="en-IN" sz="1600" dirty="0">
                    <a:latin typeface="Abadi" panose="020B0604020104020204" pitchFamily="34" charset="0"/>
                  </a:rPr>
                  <a:t> Non-volatile, logic-in-memory, reconfigurable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.</a:t>
                </a:r>
                <a:br>
                  <a:rPr lang="ar-AE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System-level gains:</a:t>
                </a:r>
                <a:r>
                  <a:rPr lang="en-IN" sz="1600" dirty="0">
                    <a:latin typeface="Abadi" panose="020B0604020104020204" pitchFamily="34" charset="0"/>
                  </a:rPr>
                  <a:t> Less data transfer between logic &amp; memory → lower delay and power; ideal for neuromorphic/edge AI.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Typical metrics:</a:t>
                </a:r>
                <a:r>
                  <a:rPr lang="en-IN" sz="1600" dirty="0">
                    <a:latin typeface="Abadi" panose="020B0604020104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16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600" i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nor/>
                      </m:rPr>
                      <a:rPr lang="ar-AE" sz="1600" b="0" i="1">
                        <a:latin typeface="Abadi" panose="020B0604020104020204" pitchFamily="34" charset="0"/>
                      </a:rPr>
                      <m:t>µ</m:t>
                    </m:r>
                    <m:r>
                      <a:rPr lang="ar-AE" sz="16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ar-AE" sz="16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600" b="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ar-AE" sz="16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ar-AE" sz="16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16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𝑀𝑉</m:t>
                    </m:r>
                    <m:r>
                      <a:rPr lang="ar-AE" sz="16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, &gt;10⁸ </a:t>
                </a:r>
                <a:r>
                  <a:rPr lang="en-IN" sz="1600" dirty="0">
                    <a:latin typeface="Abadi" panose="020B0604020104020204" pitchFamily="34" charset="0"/>
                  </a:rPr>
                  <a:t>cycles endurance, &gt;10 years retention.</a:t>
                </a: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Evolution path: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Planar MOSFET:</a:t>
                </a:r>
                <a:r>
                  <a:rPr lang="en-IN" sz="1600" dirty="0">
                    <a:latin typeface="Abadi" panose="020B0604020104020204" pitchFamily="34" charset="0"/>
                  </a:rPr>
                  <a:t> simple but leaky.</a:t>
                </a:r>
              </a:p>
              <a:p>
                <a:r>
                  <a:rPr lang="en-IN" sz="1600" b="1" dirty="0" err="1">
                    <a:latin typeface="Abadi" panose="020B0604020104020204" pitchFamily="34" charset="0"/>
                  </a:rPr>
                  <a:t>FinFET</a:t>
                </a:r>
                <a:r>
                  <a:rPr lang="en-IN" sz="1600" b="1" dirty="0">
                    <a:latin typeface="Abadi" panose="020B0604020104020204" pitchFamily="34" charset="0"/>
                  </a:rPr>
                  <a:t>:</a:t>
                </a:r>
                <a:r>
                  <a:rPr lang="en-IN" sz="1600" dirty="0">
                    <a:latin typeface="Abadi" panose="020B0604020104020204" pitchFamily="34" charset="0"/>
                  </a:rPr>
                  <a:t> 3-D geometry → better control.</a:t>
                </a: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GAA:</a:t>
                </a:r>
                <a:r>
                  <a:rPr lang="en-IN" sz="1600" dirty="0">
                    <a:latin typeface="Abadi" panose="020B0604020104020204" pitchFamily="34" charset="0"/>
                  </a:rPr>
                  <a:t> full gate wrap → near-ideal electrostatics.</a:t>
                </a:r>
              </a:p>
              <a:p>
                <a:r>
                  <a:rPr lang="en-IN" sz="1600" b="1" dirty="0">
                    <a:latin typeface="Abadi" panose="020B0604020104020204" pitchFamily="34" charset="0"/>
                  </a:rPr>
                  <a:t>Fe-NS FET:</a:t>
                </a:r>
                <a:r>
                  <a:rPr lang="en-IN" sz="1600" dirty="0">
                    <a:latin typeface="Abadi" panose="020B0604020104020204" pitchFamily="34" charset="0"/>
                  </a:rPr>
                  <a:t> adds ferroelectric gate → non-volatile &amp; ultra-efficient.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Why the combination:</a:t>
                </a:r>
                <a:r>
                  <a:rPr lang="en-IN" sz="1600" dirty="0">
                    <a:latin typeface="Abadi" panose="020B0604020104020204" pitchFamily="34" charset="0"/>
                  </a:rPr>
                  <a:t> GAA handles electrostatics, ferroelectric supplies new physical functionality — together achieving both </a:t>
                </a:r>
                <a:r>
                  <a:rPr lang="en-IN" sz="1600" b="1" dirty="0">
                    <a:latin typeface="Abadi" panose="020B0604020104020204" pitchFamily="34" charset="0"/>
                  </a:rPr>
                  <a:t>performance and memory</a:t>
                </a:r>
                <a:r>
                  <a:rPr lang="en-IN" sz="1600" dirty="0">
                    <a:latin typeface="Abadi" panose="020B0604020104020204" pitchFamily="34" charset="0"/>
                  </a:rPr>
                  <a:t> in one device.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Future focus:</a:t>
                </a:r>
                <a:r>
                  <a:rPr lang="en-IN" sz="1600" dirty="0">
                    <a:latin typeface="Abadi" panose="020B0604020104020204" pitchFamily="34" charset="0"/>
                  </a:rPr>
                  <a:t> ferroelectric reliability (fatigue, retention), interface traps, thermal control in stacked sheets.</a:t>
                </a:r>
                <a:br>
                  <a:rPr lang="en-IN" sz="1600" dirty="0">
                    <a:latin typeface="Abadi" panose="020B0604020104020204" pitchFamily="34" charset="0"/>
                  </a:rPr>
                </a:br>
                <a:r>
                  <a:rPr lang="en-IN" sz="1600" b="1" dirty="0">
                    <a:latin typeface="Abadi" panose="020B0604020104020204" pitchFamily="34" charset="0"/>
                  </a:rPr>
                  <a:t>Vision:</a:t>
                </a:r>
                <a:r>
                  <a:rPr lang="en-IN" sz="1600" dirty="0">
                    <a:latin typeface="Abadi" panose="020B0604020104020204" pitchFamily="34" charset="0"/>
                  </a:rPr>
                  <a:t> “Logic + Memory in one transistor” — a building block for beyond-CMOS and neuromorphic systems.</a:t>
                </a:r>
              </a:p>
              <a:p>
                <a:pPr>
                  <a:buNone/>
                </a:pPr>
                <a:br>
                  <a:rPr lang="en-IN" sz="1600" dirty="0">
                    <a:latin typeface="Abadi" panose="020B0604020104020204" pitchFamily="34" charset="0"/>
                  </a:rPr>
                </a:br>
                <a:br>
                  <a:rPr lang="en-IN" sz="1600" dirty="0">
                    <a:latin typeface="Abadi" panose="020B0604020104020204" pitchFamily="34" charset="0"/>
                  </a:rPr>
                </a:br>
                <a:endParaRPr lang="en-IN" sz="1600" dirty="0"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DDBD8A-A443-B804-80BF-DC5E2EA5B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93" y="627254"/>
                <a:ext cx="5831512" cy="6001643"/>
              </a:xfrm>
              <a:prstGeom prst="rect">
                <a:avLst/>
              </a:prstGeom>
              <a:blipFill>
                <a:blip r:embed="rId2"/>
                <a:stretch>
                  <a:fillRect l="-628" t="-305" r="-13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31CD85-64AD-AA1D-DFB2-2A4D62129CB8}"/>
              </a:ext>
            </a:extLst>
          </p:cNvPr>
          <p:cNvSpPr txBox="1"/>
          <p:nvPr/>
        </p:nvSpPr>
        <p:spPr>
          <a:xfrm>
            <a:off x="522093" y="6173776"/>
            <a:ext cx="5595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badi" panose="020B0604020104020204" pitchFamily="34" charset="0"/>
              </a:rPr>
              <a:t>Refs:</a:t>
            </a:r>
            <a:r>
              <a:rPr lang="en-IN" sz="1200" dirty="0">
                <a:latin typeface="Abadi" panose="020B0604020104020204" pitchFamily="34" charset="0"/>
              </a:rPr>
              <a:t> Hoffmann et al., </a:t>
            </a:r>
            <a:r>
              <a:rPr lang="en-IN" sz="1200" i="1" dirty="0">
                <a:latin typeface="Abadi" panose="020B0604020104020204" pitchFamily="34" charset="0"/>
              </a:rPr>
              <a:t>AIP Adv.</a:t>
            </a:r>
            <a:r>
              <a:rPr lang="en-IN" sz="1200" dirty="0">
                <a:latin typeface="Abadi" panose="020B0604020104020204" pitchFamily="34" charset="0"/>
              </a:rPr>
              <a:t> 2020; Chen APR 2022; Adv. </a:t>
            </a:r>
            <a:r>
              <a:rPr lang="en-IN" sz="1200" dirty="0" err="1">
                <a:latin typeface="Abadi" panose="020B0604020104020204" pitchFamily="34" charset="0"/>
              </a:rPr>
              <a:t>Funct</a:t>
            </a:r>
            <a:r>
              <a:rPr lang="en-IN" sz="1200" dirty="0">
                <a:latin typeface="Abadi" panose="020B0604020104020204" pitchFamily="34" charset="0"/>
              </a:rPr>
              <a:t>. Mater. 2024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60805-FB84-00FD-CD23-8E683CA5984B}"/>
              </a:ext>
            </a:extLst>
          </p:cNvPr>
          <p:cNvSpPr txBox="1"/>
          <p:nvPr/>
        </p:nvSpPr>
        <p:spPr>
          <a:xfrm>
            <a:off x="522093" y="59400"/>
            <a:ext cx="6799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badi" panose="020B0604020104020204" pitchFamily="34" charset="0"/>
              </a:rPr>
              <a:t>Advantages and Applications of Fe-NS FETs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2E16E-966A-AA04-40B1-30663B8C8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545" y="1881895"/>
            <a:ext cx="2883455" cy="27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4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7DFF5-C98D-92B5-AD49-F8169B99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46" y="889843"/>
            <a:ext cx="794912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D. Hisamoto, W.-C. Lee, J. Kedzierski, H. Takeuchi, K. Asano, C. Kuo, E. Anderson, T.-J. King, J. Bokor, and C. Hu,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FinFET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—A Self-Aligned Double-Gate MOSFET Scalable to 20 nm,”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IEEE Trans. Electron Devices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47, no. 12, pp. 2320–2325, Dec. 2000. doi:10.1109/16.887014.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2"/>
              </a:rPr>
              <a:t>SCIRP+1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B. Yu, L. Chang, S. Ahmed, H. Wang, S. Bell, C.-Y. Yang, C. Tabery, C. Ho, Q. Xiang, T.-J. King, and C. Hu,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FinFET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Scaling to 10 nm Gate Length,”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IEDM Tech. Dig.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2002, pp. 251–254. doi:10.1109/IEDM.2002.1175825.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3"/>
              </a:rPr>
              <a:t>ResearchGate+2Semantic Scholar+2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Q. Zhang, Y. Zhang, Y. Luo, H. Yin,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“New structure transistors for advanced technology node CMOS ICs,”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National Science Review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11, no. 3, article nwae008, 2024. doi:10.1093/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nsr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/nwae008.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4"/>
              </a:rPr>
              <a:t>OUP Academic+2PubMed+2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S. Mukesh and J. Zhang, “A Review of the Gate-All-Around Nanosheet FET Process Opportunities,”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Electronics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11, no. 21, 3589, 2022. doi:10.3390/electronics11213589.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5"/>
              </a:rPr>
              <a:t>MDPI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S. Salahuddin and S. Datta, “Use of Negative Capacitance to Provide Voltage Amplification for Low Power Nanoscale Devices,”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Nano Letters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8, no. 2, pp. 405–410, 2008. doi:10.1021/nl071804g.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6"/>
              </a:rPr>
              <a:t>American Chemical Society+2PubMed+2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T. S.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Böscke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J. Müller, D.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Bräuhaus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U. Schröder, and U. Böttger, “Ferroelectricity in hafnium oxide thin films,”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Applied Physics Letters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99, 102903, 2011. doi:10.1063/1.3634052.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7"/>
              </a:rPr>
              <a:t>AIP Publishing+1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H. Chen, H. Liu, H. Zhang,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HfO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₂-based ferroelectrics: From enhancing performance, material design to applications,”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Applied Physics Reviews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9, 011307, 2022. doi:10.1063/5.0066607.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8"/>
              </a:rPr>
              <a:t>AIP Publishing+1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J.-Y. Kim, J.-H. Lee, H.-S. Kim, and J.-P. Hong, “Ferroelectric field-effect transistors: Progress and perspective,”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APL Materials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9, 021102, 2021. doi:10.1063/5.0039636.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9"/>
              </a:rPr>
              <a:t>AIP Publishing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Y. Yang, Z.-D. Luo, X. Wang,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“Emerging Opportunities for Ferroelectric Field-Effect Transistors: Integration of 2D Materials,”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Advanced Functional Materials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34, no. 21, 2024, 230?—Article ID 2310438. doi:10.1002/adfm.202310438.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10"/>
              </a:rPr>
              <a:t>Astrophysics Data System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H. Wong and K.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Kakushima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“On the Vertically Stacked Gate-All-Around Nanosheet and Nanowire Transistor Scaling beyond the 5 nm Technology Node,”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Nanomaterials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12, 1739, 2022 (open-access tutorial/analysis).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11"/>
              </a:rPr>
              <a:t>PMC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Y. Zhao, S. Wang, J. Xiong,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“Compact Modeling of Advanced Gate-All-Around Nanosheet FETs Enabled by Artificial Neural Networks,”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Micromachines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vol. 15, no. 2, 218, 2024.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12"/>
              </a:rPr>
              <a:t>MDPI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95D91-9882-A556-1C04-F9EA95FC5F60}"/>
              </a:ext>
            </a:extLst>
          </p:cNvPr>
          <p:cNvSpPr txBox="1"/>
          <p:nvPr/>
        </p:nvSpPr>
        <p:spPr>
          <a:xfrm>
            <a:off x="719722" y="372731"/>
            <a:ext cx="4412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6421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4">
            <a:extLst>
              <a:ext uri="{FF2B5EF4-FFF2-40B4-BE49-F238E27FC236}">
                <a16:creationId xmlns:a16="http://schemas.microsoft.com/office/drawing/2014/main" id="{5EA2E852-8075-5001-D910-500986697015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557213" y="264160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6000" b="1" cap="none">
                <a:latin typeface="Frutiger LT 55 Roman" pitchFamily="34" charset="0"/>
                <a:cs typeface="Frutiger LT 55 Roman" pitchFamily="34" charset="0"/>
              </a:rPr>
              <a:t>THE END</a:t>
            </a:r>
            <a:endParaRPr lang="en-US" altLang="en-US" sz="3600" b="1" cap="none">
              <a:latin typeface="Frutiger LT 55 Roman" pitchFamily="34" charset="0"/>
              <a:cs typeface="Frutiger LT 55 Roman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BB9BD215CF324D9F8C4A0ED631CDDB" ma:contentTypeVersion="2" ma:contentTypeDescription="Create a new document." ma:contentTypeScope="" ma:versionID="08e40e86df27b0257f6045eaa896db86">
  <xsd:schema xmlns:xsd="http://www.w3.org/2001/XMLSchema" xmlns:xs="http://www.w3.org/2001/XMLSchema" xmlns:p="http://schemas.microsoft.com/office/2006/metadata/properties" xmlns:ns2="5f0c94e0-4c49-41c3-8959-c2ad4830b589" targetNamespace="http://schemas.microsoft.com/office/2006/metadata/properties" ma:root="true" ma:fieldsID="6c16d9936e91a705eae1b1216d4ff849" ns2:_="">
    <xsd:import namespace="5f0c94e0-4c49-41c3-8959-c2ad4830b5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94e0-4c49-41c3-8959-c2ad4830b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6CA2A-B939-45B7-AA12-6B2323D15A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86A7AD-9B2B-4847-B40A-52E768B35B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c94e0-4c49-41c3-8959-c2ad4830b5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21122</TotalTime>
  <Words>2315</Words>
  <Application>Microsoft Office PowerPoint</Application>
  <PresentationFormat>On-screen Show (4:3)</PresentationFormat>
  <Paragraphs>141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Century Gothic</vt:lpstr>
      <vt:lpstr>MS PGothic</vt:lpstr>
      <vt:lpstr>Arial</vt:lpstr>
      <vt:lpstr>Arial Unicode MS</vt:lpstr>
      <vt:lpstr>Frutiger LT 55 Roman</vt:lpstr>
      <vt:lpstr>Calibri</vt:lpstr>
      <vt:lpstr>Custom Design</vt:lpstr>
      <vt:lpstr>1_Custom Design</vt:lpstr>
      <vt:lpstr>2_Custom Design</vt:lpstr>
      <vt:lpstr>3_Custom Design</vt:lpstr>
      <vt:lpstr>4_Custom Design</vt:lpstr>
      <vt:lpstr>MOS Devices Literature Review</vt:lpstr>
      <vt:lpstr>PowerPoint Presentation</vt:lpstr>
      <vt:lpstr>Planar MOSFET: Strength and Limitations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Manager>IRO</Manager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</dc:title>
  <dc:subject>PowerPoint presentation template</dc:subject>
  <dc:creator>KPS</dc:creator>
  <cp:keywords>PowerPoint presentation template; ppt presentation template</cp:keywords>
  <cp:lastModifiedBy>Divya Gavane</cp:lastModifiedBy>
  <cp:revision>1915</cp:revision>
  <dcterms:created xsi:type="dcterms:W3CDTF">2009-07-20T02:01:12Z</dcterms:created>
  <dcterms:modified xsi:type="dcterms:W3CDTF">2025-11-10T12:10:11Z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tegory0">
    <vt:lpwstr>Admin</vt:lpwstr>
  </property>
  <property fmtid="{D5CDD505-2E9C-101B-9397-08002B2CF9AE}" pid="3" name="Originator">
    <vt:lpwstr>1520</vt:lpwstr>
  </property>
  <property fmtid="{D5CDD505-2E9C-101B-9397-08002B2CF9AE}" pid="4" name="Date">
    <vt:lpwstr>2005-07-14T00:00:00Z</vt:lpwstr>
  </property>
  <property fmtid="{D5CDD505-2E9C-101B-9397-08002B2CF9AE}" pid="5" name="Sub-Category">
    <vt:lpwstr>Presentations</vt:lpwstr>
  </property>
  <property fmtid="{D5CDD505-2E9C-101B-9397-08002B2CF9AE}" pid="6" name="Remarks">
    <vt:lpwstr/>
  </property>
  <property fmtid="{D5CDD505-2E9C-101B-9397-08002B2CF9AE}" pid="7" name="Originator1">
    <vt:lpwstr>Kwek Puay Swan</vt:lpwstr>
  </property>
  <property fmtid="{D5CDD505-2E9C-101B-9397-08002B2CF9AE}" pid="8" name="TitusGUID">
    <vt:lpwstr>e0a2dee0-e9e4-492e-beae-21456fdb7fb4</vt:lpwstr>
  </property>
  <property fmtid="{D5CDD505-2E9C-101B-9397-08002B2CF9AE}" pid="9" name="CLASSIFICATION">
    <vt:lpwstr>NUS Restricted</vt:lpwstr>
  </property>
  <property fmtid="{D5CDD505-2E9C-101B-9397-08002B2CF9AE}" pid="10" name="TITUSMarking">
    <vt:lpwstr>None</vt:lpwstr>
  </property>
  <property fmtid="{D5CDD505-2E9C-101B-9397-08002B2CF9AE}" pid="11" name="IsSavedOnce">
    <vt:lpwstr>IsSavedOnceTrue</vt:lpwstr>
  </property>
  <property fmtid="{D5CDD505-2E9C-101B-9397-08002B2CF9AE}" pid="12" name="ExistingClassification">
    <vt:lpwstr>NUS Restricted</vt:lpwstr>
  </property>
  <property fmtid="{D5CDD505-2E9C-101B-9397-08002B2CF9AE}" pid="13" name="ExistingHeaderFooter">
    <vt:lpwstr>None</vt:lpwstr>
  </property>
</Properties>
</file>