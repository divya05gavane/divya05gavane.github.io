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Bahnschrift Light" panose="020B0502040204020203" pitchFamily="34" charset="0"/>
      <p:regular r:id="rId24"/>
    </p:embeddedFont>
    <p:embeddedFont>
      <p:font typeface="Baskerville Old Face" panose="02020602080505020303" pitchFamily="18" charset="0"/>
      <p:regular r:id="rId25"/>
    </p:embeddedFont>
    <p:embeddedFont>
      <p:font typeface="Corbel" panose="020B0503020204020204" pitchFamily="34" charset="0"/>
      <p:regular r:id="rId26"/>
      <p:bold r:id="rId27"/>
      <p:italic r:id="rId28"/>
      <p:boldItalic r:id="rId29"/>
    </p:embeddedFont>
    <p:embeddedFont>
      <p:font typeface="Libre Baskerville" panose="020B0604020202020204" charset="0"/>
      <p:regular r:id="rId30"/>
      <p:bold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jr2Qsf+SDaAAJ7W08iqu4mXGtZ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62CEFC-1616-48BD-B908-6DFABEC229C5}">
  <a:tblStyle styleId="{A762CEFC-1616-48BD-B908-6DFABEC229C5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EE7"/>
          </a:solidFill>
        </a:fill>
      </a:tcStyle>
    </a:wholeTbl>
    <a:band1H>
      <a:tcTxStyle/>
      <a:tcStyle>
        <a:tcBdr/>
        <a:fill>
          <a:solidFill>
            <a:srgbClr val="F7DB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7DB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3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0" name="Google Shape;20;p23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Google Shape;21;p23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2" name="Google Shape;22;p23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3" name="Google Shape;23;p23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7B470B"/>
            </a:solidFill>
            <a:ln>
              <a:noFill/>
            </a:ln>
          </p:spPr>
        </p:sp>
        <p:sp>
          <p:nvSpPr>
            <p:cNvPr id="24" name="Google Shape;24;p23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6B10"/>
            </a:solidFill>
            <a:ln>
              <a:noFill/>
            </a:ln>
          </p:spPr>
        </p:sp>
        <p:sp>
          <p:nvSpPr>
            <p:cNvPr id="25" name="Google Shape;25;p23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26" name="Google Shape;26;p23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49580" algn="l">
              <a:spcBef>
                <a:spcPts val="480"/>
              </a:spcBef>
              <a:spcAft>
                <a:spcPts val="0"/>
              </a:spcAft>
              <a:buClr>
                <a:srgbClr val="B96B10"/>
              </a:buClr>
              <a:buSzPts val="3480"/>
              <a:buChar char="•"/>
              <a:defRPr/>
            </a:lvl1pPr>
            <a:lvl2pPr marL="914400" lvl="1" indent="-412750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900"/>
              <a:buChar char="•"/>
              <a:defRPr/>
            </a:lvl2pPr>
            <a:lvl3pPr marL="1371600" lvl="2" indent="-394335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610"/>
              <a:buChar char="•"/>
              <a:defRPr/>
            </a:lvl3pPr>
            <a:lvl4pPr marL="1828800" lvl="3" indent="-37591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Char char="•"/>
              <a:defRPr/>
            </a:lvl4pPr>
            <a:lvl5pPr marL="2286000" lvl="4" indent="-357504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030"/>
              <a:buChar char="•"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Clr>
                <a:srgbClr val="B96B10"/>
              </a:buClr>
              <a:buSzPts val="2610"/>
              <a:buChar char="•"/>
              <a:defRPr sz="1800"/>
            </a:lvl1pPr>
            <a:lvl2pPr marL="914400" lvl="1" indent="-37591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Char char="•"/>
              <a:defRPr sz="1600"/>
            </a:lvl2pPr>
            <a:lvl3pPr marL="1371600" lvl="2" indent="-357505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030"/>
              <a:buChar char="•"/>
              <a:defRPr sz="1400"/>
            </a:lvl3pPr>
            <a:lvl4pPr marL="1828800" lvl="3" indent="-33908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1740"/>
              <a:buChar char="•"/>
              <a:defRPr sz="1200"/>
            </a:lvl4pPr>
            <a:lvl5pPr marL="2286000" lvl="4" indent="-33908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1740"/>
              <a:buChar char="•"/>
              <a:defRPr sz="1200"/>
            </a:lvl5pPr>
            <a:lvl6pPr marL="2743200" lvl="5" indent="-339089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Clr>
                <a:srgbClr val="B96B10"/>
              </a:buClr>
              <a:buSzPts val="2610"/>
              <a:buChar char="•"/>
              <a:defRPr sz="1800"/>
            </a:lvl1pPr>
            <a:lvl2pPr marL="914400" lvl="1" indent="-37591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Char char="•"/>
              <a:defRPr sz="1600"/>
            </a:lvl2pPr>
            <a:lvl3pPr marL="1371600" lvl="2" indent="-357505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030"/>
              <a:buChar char="•"/>
              <a:defRPr sz="1400"/>
            </a:lvl3pPr>
            <a:lvl4pPr marL="1828800" lvl="3" indent="-33908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1740"/>
              <a:buChar char="•"/>
              <a:defRPr sz="1200"/>
            </a:lvl4pPr>
            <a:lvl5pPr marL="2286000" lvl="4" indent="-33908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1740"/>
              <a:buChar char="•"/>
              <a:defRPr sz="1200"/>
            </a:lvl5pPr>
            <a:lvl6pPr marL="2743200" lvl="5" indent="-339089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B96B10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Clr>
                <a:srgbClr val="B96B10"/>
              </a:buClr>
              <a:buSzPts val="2610"/>
              <a:buChar char="•"/>
              <a:defRPr sz="1800"/>
            </a:lvl1pPr>
            <a:lvl2pPr marL="914400" lvl="1" indent="-37591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Char char="•"/>
              <a:defRPr sz="1600"/>
            </a:lvl2pPr>
            <a:lvl3pPr marL="1371600" lvl="2" indent="-357505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030"/>
              <a:buChar char="•"/>
              <a:defRPr sz="1400"/>
            </a:lvl3pPr>
            <a:lvl4pPr marL="1828800" lvl="3" indent="-33908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1740"/>
              <a:buChar char="•"/>
              <a:defRPr sz="1200"/>
            </a:lvl4pPr>
            <a:lvl5pPr marL="2286000" lvl="4" indent="-33908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1740"/>
              <a:buChar char="•"/>
              <a:defRPr sz="1200"/>
            </a:lvl5pPr>
            <a:lvl6pPr marL="2743200" lvl="5" indent="-339089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B96B10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Clr>
                <a:srgbClr val="B96B10"/>
              </a:buClr>
              <a:buSzPts val="2610"/>
              <a:buChar char="•"/>
              <a:defRPr sz="1800"/>
            </a:lvl1pPr>
            <a:lvl2pPr marL="914400" lvl="1" indent="-37591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Char char="•"/>
              <a:defRPr sz="1600"/>
            </a:lvl2pPr>
            <a:lvl3pPr marL="1371600" lvl="2" indent="-357505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030"/>
              <a:buChar char="•"/>
              <a:defRPr sz="1400"/>
            </a:lvl3pPr>
            <a:lvl4pPr marL="1828800" lvl="3" indent="-33908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1740"/>
              <a:buChar char="•"/>
              <a:defRPr sz="1200"/>
            </a:lvl4pPr>
            <a:lvl5pPr marL="2286000" lvl="4" indent="-339089" algn="l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1740"/>
              <a:buChar char="•"/>
              <a:defRPr sz="1200"/>
            </a:lvl5pPr>
            <a:lvl6pPr marL="2743200" lvl="5" indent="-339089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1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2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rgbClr val="B96B10"/>
              </a:buClr>
              <a:buSzPts val="232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85" name="Google Shape;85;p32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3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4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97" name="Google Shape;97;p3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98" name="Google Shape;98;p34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4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34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3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5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5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3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2" name="Google Shape;112;p3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3" name="Google Shape;113;p36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6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3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8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8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3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9"/>
          <p:cNvSpPr txBox="1">
            <a:spLocks noGrp="1"/>
          </p:cNvSpPr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9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3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22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7" name="Google Shape;7;p22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Google Shape;8;p22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9" name="Google Shape;9;p22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0" name="Google Shape;10;p22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470B"/>
            </a:solidFill>
            <a:ln>
              <a:noFill/>
            </a:ln>
          </p:spPr>
        </p:sp>
        <p:sp>
          <p:nvSpPr>
            <p:cNvPr id="11" name="Google Shape;11;p22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B96B10"/>
            </a:solidFill>
            <a:ln>
              <a:noFill/>
            </a:ln>
          </p:spPr>
        </p:sp>
        <p:sp>
          <p:nvSpPr>
            <p:cNvPr id="12" name="Google Shape;12;p22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3" name="Google Shape;13;p22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spcBef>
                <a:spcPts val="480"/>
              </a:spcBef>
              <a:spcAft>
                <a:spcPts val="0"/>
              </a:spcAft>
              <a:buClr>
                <a:srgbClr val="B96B10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spcBef>
                <a:spcPts val="600"/>
              </a:spcBef>
              <a:spcAft>
                <a:spcPts val="0"/>
              </a:spcAft>
              <a:buClr>
                <a:srgbClr val="B96B10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spcBef>
                <a:spcPts val="600"/>
              </a:spcBef>
              <a:spcAft>
                <a:spcPts val="600"/>
              </a:spcAft>
              <a:buClr>
                <a:srgbClr val="B96B10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>
            <a:spLocks noGrp="1"/>
          </p:cNvSpPr>
          <p:nvPr>
            <p:ph type="ctrTitle"/>
          </p:nvPr>
        </p:nvSpPr>
        <p:spPr>
          <a:xfrm>
            <a:off x="-1400175" y="691835"/>
            <a:ext cx="12068175" cy="266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 dirty="0"/>
              <a:t>ECHO ADDITION AND REMOVAL</a:t>
            </a:r>
            <a:br>
              <a:rPr lang="en-US" sz="4400" dirty="0"/>
            </a:br>
            <a:r>
              <a:rPr lang="en-US" sz="4400" dirty="0"/>
              <a:t> IN AUDIO SIGNALS</a:t>
            </a:r>
            <a:br>
              <a:rPr lang="en-US" sz="4400" dirty="0"/>
            </a:br>
            <a:r>
              <a:rPr lang="en-US" sz="4400" dirty="0"/>
              <a:t> USING MATLAB </a:t>
            </a:r>
            <a:endParaRPr sz="4400" dirty="0"/>
          </a:p>
        </p:txBody>
      </p:sp>
      <p:sp>
        <p:nvSpPr>
          <p:cNvPr id="143" name="Google Shape;143;p1"/>
          <p:cNvSpPr txBox="1">
            <a:spLocks noGrp="1"/>
          </p:cNvSpPr>
          <p:nvPr>
            <p:ph type="subTitle" idx="1"/>
          </p:nvPr>
        </p:nvSpPr>
        <p:spPr>
          <a:xfrm>
            <a:off x="2347601" y="4421455"/>
            <a:ext cx="83203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464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Digital Signal Processing </a:t>
            </a:r>
            <a:endParaRPr/>
          </a:p>
          <a:p>
            <a:pPr marL="0" lvl="0" indent="0" algn="ctr" rtl="0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                                      (Project Based Learning)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2011015" y="1976626"/>
            <a:ext cx="8697625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               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                                  ROLL NO.S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DIVYA GAVANE                             3122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VAISHNAVI FULSUNDAR             3123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SHITAL INDULWAR                      3131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SAMIRA JADHAV                          3132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 txBox="1"/>
          <p:nvPr/>
        </p:nvSpPr>
        <p:spPr>
          <a:xfrm>
            <a:off x="1583651" y="1268415"/>
            <a:ext cx="3969705" cy="618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1.finding out the topic for project.(aim)</a:t>
            </a:r>
            <a:endParaRPr sz="1800"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2.Research and literature survey related to finalized project topic</a:t>
            </a:r>
            <a:endParaRPr sz="1800"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3.understanding the need of project and theory behind particular topic.</a:t>
            </a:r>
            <a:endParaRPr sz="1800"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4.preparing the block diagram inclusive of all ideas as per observation and need of the chosen project.</a:t>
            </a:r>
            <a:endParaRPr sz="1800"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5.understanding scope and prerequisites for signal processing project.</a:t>
            </a:r>
            <a:endParaRPr sz="1800"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5666767" y="1382171"/>
            <a:ext cx="32673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1.Understanding the actual circuit diagram .</a:t>
            </a:r>
            <a:endParaRPr sz="1800"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2.Finalizing the design of the system.</a:t>
            </a:r>
            <a:endParaRPr sz="1800"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3.Finalising the algorithm to be used. </a:t>
            </a:r>
            <a:endParaRPr sz="1800"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4.Understanding the related attributes , parameters and their relation with the system performance.</a:t>
            </a:r>
            <a:endParaRPr sz="1800" dirty="0">
              <a:latin typeface="Bahnschrift Light" panose="020B0502040204020203" pitchFamily="34" charset="0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8967975" y="1544488"/>
            <a:ext cx="3181218" cy="37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1.Collection of samples to be operated on.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2.Software implementation using MATLAB.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3.Recording the project results.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4.Analysing the correctness and behavior of the system based on recorded results</a:t>
            </a:r>
            <a:r>
              <a:rPr lang="en-US" sz="20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.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56" name="Google Shape;156;p3"/>
          <p:cNvCxnSpPr/>
          <p:nvPr/>
        </p:nvCxnSpPr>
        <p:spPr>
          <a:xfrm>
            <a:off x="5504090" y="1544488"/>
            <a:ext cx="0" cy="4383992"/>
          </a:xfrm>
          <a:prstGeom prst="straightConnector1">
            <a:avLst/>
          </a:prstGeom>
          <a:noFill/>
          <a:ln w="9525" cap="rnd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"/>
          <p:cNvCxnSpPr/>
          <p:nvPr/>
        </p:nvCxnSpPr>
        <p:spPr>
          <a:xfrm>
            <a:off x="8922176" y="1587217"/>
            <a:ext cx="0" cy="4298534"/>
          </a:xfrm>
          <a:prstGeom prst="straightConnector1">
            <a:avLst/>
          </a:prstGeom>
          <a:noFill/>
          <a:ln w="9525" cap="rnd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3"/>
          <p:cNvSpPr txBox="1"/>
          <p:nvPr/>
        </p:nvSpPr>
        <p:spPr>
          <a:xfrm>
            <a:off x="-855292" y="209395"/>
            <a:ext cx="1213217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92D050"/>
                </a:solidFill>
                <a:latin typeface="Corbel"/>
                <a:ea typeface="Corbel"/>
                <a:cs typeface="Corbel"/>
                <a:sym typeface="Corbel"/>
              </a:rPr>
              <a:t>                           </a:t>
            </a:r>
            <a:r>
              <a:rPr lang="en-US" sz="3200" b="1" dirty="0">
                <a:solidFill>
                  <a:schemeClr val="dk1"/>
                </a:solidFill>
                <a:latin typeface="Baskerville Old Face" panose="02020602080505020303" pitchFamily="18" charset="0"/>
                <a:ea typeface="Libre Baskerville"/>
                <a:cs typeface="Libre Baskerville"/>
                <a:sym typeface="Libre Baskerville"/>
              </a:rPr>
              <a:t>WORKFLOW</a:t>
            </a:r>
            <a:endParaRPr sz="3200" b="1" dirty="0">
              <a:solidFill>
                <a:schemeClr val="dk1"/>
              </a:solidFill>
              <a:latin typeface="Baskerville Old Face" panose="02020602080505020303" pitchFamily="18" charset="0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2319403" y="975912"/>
            <a:ext cx="14905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Baskerville Old Face" panose="02020602080505020303" pitchFamily="18" charset="0"/>
                <a:sym typeface="Arial"/>
              </a:rPr>
              <a:t>PHASE 1</a:t>
            </a:r>
            <a:endParaRPr sz="2400" dirty="0">
              <a:solidFill>
                <a:schemeClr val="dk1"/>
              </a:solidFill>
              <a:latin typeface="Baskerville Old Face" panose="02020602080505020303" pitchFamily="18" charset="0"/>
              <a:sym typeface="Arial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5874538" y="975912"/>
            <a:ext cx="205098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Baskerville Old Face" panose="02020602080505020303" pitchFamily="18" charset="0"/>
                <a:sym typeface="Arial"/>
              </a:rPr>
              <a:t>PHASE 2</a:t>
            </a:r>
            <a:endParaRPr sz="2400" dirty="0">
              <a:solidFill>
                <a:schemeClr val="dk1"/>
              </a:solidFill>
              <a:latin typeface="Baskerville Old Face" panose="02020602080505020303" pitchFamily="18" charset="0"/>
              <a:sym typeface="Arial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9716990" y="975912"/>
            <a:ext cx="15598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Baskerville Old Face" panose="02020602080505020303" pitchFamily="18" charset="0"/>
                <a:sym typeface="Arial"/>
              </a:rPr>
              <a:t>PHASE 3</a:t>
            </a:r>
            <a:endParaRPr sz="2400" dirty="0">
              <a:solidFill>
                <a:schemeClr val="dk1"/>
              </a:solidFill>
              <a:latin typeface="Baskerville Old Face" panose="02020602080505020303" pitchFamily="18" charset="0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1300481" y="1278602"/>
            <a:ext cx="10485119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‘Echo addition and removal from audio signals’ is all related to processing audio signals using MATLAB , where we are specifically generating echo in the clean signal using transfer function parameters. After we generate such a signal , we again are going to attempt the reverse , that is to remove the echo from signal . We have referenced a 2018 IJERT research paper ,a YouTube video that explains the techniques for selected PBL topic and a Simple Echo Cancellation project for understanding system/block requirements and algorithm that needs to be followed.</a:t>
            </a:r>
            <a:endParaRPr sz="2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>
            <a:spLocks noGrp="1"/>
          </p:cNvSpPr>
          <p:nvPr>
            <p:ph type="title"/>
          </p:nvPr>
        </p:nvSpPr>
        <p:spPr>
          <a:xfrm>
            <a:off x="1334451" y="-23749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Baskerville"/>
              <a:buNone/>
            </a:pPr>
            <a:r>
              <a:rPr lang="en-US" sz="4000" dirty="0">
                <a:latin typeface="Baskerville Old Face" panose="02020602080505020303" pitchFamily="18" charset="0"/>
                <a:ea typeface="Libre Baskerville"/>
                <a:cs typeface="Libre Baskerville"/>
                <a:sym typeface="Libre Baskerville"/>
              </a:rPr>
              <a:t>What is an Echo?</a:t>
            </a:r>
            <a:endParaRPr dirty="0">
              <a:latin typeface="Baskerville Old Face" panose="02020602080505020303" pitchFamily="18" charset="0"/>
            </a:endParaRPr>
          </a:p>
        </p:txBody>
      </p:sp>
      <p:sp>
        <p:nvSpPr>
          <p:cNvPr id="172" name="Google Shape;172;p5"/>
          <p:cNvSpPr txBox="1">
            <a:spLocks noGrp="1"/>
          </p:cNvSpPr>
          <p:nvPr>
            <p:ph type="body" idx="1"/>
          </p:nvPr>
        </p:nvSpPr>
        <p:spPr>
          <a:xfrm>
            <a:off x="1672111" y="990601"/>
            <a:ext cx="10148414" cy="541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25000" lnSpcReduction="20000"/>
          </a:bodyPr>
          <a:lstStyle/>
          <a:p>
            <a:pPr marL="285750" lvl="0" indent="-230505" algn="l" rtl="0">
              <a:spcBef>
                <a:spcPts val="0"/>
              </a:spcBef>
              <a:spcAft>
                <a:spcPts val="0"/>
              </a:spcAft>
              <a:buClr>
                <a:srgbClr val="B96B10"/>
              </a:buClr>
              <a:buSzPct val="1450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ct val="145000"/>
              <a:buChar char="•"/>
            </a:pPr>
            <a:r>
              <a:rPr lang="en-US" sz="9600" b="0" i="0" dirty="0">
                <a:solidFill>
                  <a:srgbClr val="202122"/>
                </a:solidFill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In</a:t>
            </a:r>
            <a:r>
              <a:rPr lang="en-US" sz="9600" b="0" i="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 </a:t>
            </a:r>
            <a:r>
              <a:rPr lang="en-US" sz="96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audio signal processing,</a:t>
            </a:r>
            <a:r>
              <a:rPr lang="en-US" sz="9600" b="0" i="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 </a:t>
            </a:r>
            <a:r>
              <a:rPr lang="en-US" sz="9600" b="1" dirty="0">
                <a:solidFill>
                  <a:srgbClr val="202122"/>
                </a:solidFill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E</a:t>
            </a:r>
            <a:r>
              <a:rPr lang="en-US" sz="9600" b="1" i="0" dirty="0">
                <a:solidFill>
                  <a:srgbClr val="202122"/>
                </a:solidFill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cho</a:t>
            </a:r>
            <a:r>
              <a:rPr lang="en-US" sz="9600" b="0" i="0" dirty="0">
                <a:solidFill>
                  <a:srgbClr val="202122"/>
                </a:solidFill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 is a reflection of sound that arrives at the listener with a delay after the direct sound. The delay is directly proportional to the distance of the reflecting surface from the source and the listener.</a:t>
            </a:r>
            <a:endParaRPr sz="9600" dirty="0">
              <a:latin typeface="Bahnschrift Light" panose="020B0502040204020203" pitchFamily="34" charset="0"/>
              <a:ea typeface="Arial"/>
              <a:cs typeface="Arial"/>
              <a:sym typeface="Arial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ct val="145000"/>
              <a:buChar char="•"/>
            </a:pPr>
            <a:r>
              <a:rPr lang="en-US" sz="96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Echo is audible because the speed of sound is relatively slow, about 400 meters per second. </a:t>
            </a:r>
            <a:endParaRPr dirty="0">
              <a:latin typeface="Bahnschrift Light" panose="020B0502040204020203" pitchFamily="34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ct val="145000"/>
              <a:buChar char="•"/>
            </a:pPr>
            <a:r>
              <a:rPr lang="en-US" sz="96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If we consider only one echo path, then an echo can be simulated using the following equation: </a:t>
            </a:r>
            <a:endParaRPr dirty="0">
              <a:latin typeface="Bahnschrift Light" panose="020B0502040204020203" pitchFamily="34" charset="0"/>
            </a:endParaRPr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rPr lang="en-US" sz="96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   Output = Input + Delayed Input × Gain </a:t>
            </a:r>
            <a:endParaRPr dirty="0">
              <a:latin typeface="Bahnschrift Light" panose="020B0502040204020203" pitchFamily="34" charset="0"/>
            </a:endParaRPr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rPr lang="en-US" sz="96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   where Gain &lt; 1, due to losses in the echo path. </a:t>
            </a:r>
            <a:endParaRPr dirty="0">
              <a:latin typeface="Bahnschrift Light" panose="020B0502040204020203" pitchFamily="34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ct val="145000"/>
              <a:buChar char="•"/>
            </a:pPr>
            <a:r>
              <a:rPr lang="en-US" sz="96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The most important factor in echoes is called end-to-end delay, which is also known as latency. </a:t>
            </a:r>
            <a:endParaRPr dirty="0">
              <a:latin typeface="Bahnschrift Light" panose="020B0502040204020203" pitchFamily="34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ct val="145000"/>
              <a:buChar char="•"/>
            </a:pPr>
            <a:r>
              <a:rPr lang="en-US" sz="96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Latency is the time between the generation of the sound at one end of the call and its reception at the other end. </a:t>
            </a:r>
            <a:endParaRPr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>
            <a:spLocks noGrp="1"/>
          </p:cNvSpPr>
          <p:nvPr>
            <p:ph type="body" idx="1"/>
          </p:nvPr>
        </p:nvSpPr>
        <p:spPr>
          <a:xfrm>
            <a:off x="1497965" y="573881"/>
            <a:ext cx="10417810" cy="551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B96B10"/>
              </a:buClr>
              <a:buSzPts val="3480"/>
              <a:buChar char="•"/>
            </a:pPr>
            <a:r>
              <a:rPr lang="en-US" sz="24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Round trip delay is the time taken to reflect an echo and is approximately twice the end-to-end delay.</a:t>
            </a:r>
            <a:endParaRPr dirty="0">
              <a:latin typeface="Bahnschrift Light" panose="020B0502040204020203" pitchFamily="34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ts val="3480"/>
              <a:buChar char="•"/>
            </a:pPr>
            <a:r>
              <a:rPr lang="en-US" sz="24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Echoes become annoying when the round trip delay exceeds 30 </a:t>
            </a:r>
            <a:r>
              <a:rPr lang="en-US" sz="2400" dirty="0" err="1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ms</a:t>
            </a:r>
            <a:r>
              <a:rPr lang="en-US" sz="24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 . Such an echo is typically heard as a hollow sound. </a:t>
            </a:r>
            <a:endParaRPr dirty="0">
              <a:latin typeface="Bahnschrift Light" panose="020B0502040204020203" pitchFamily="34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ts val="3480"/>
              <a:buChar char="•"/>
            </a:pPr>
            <a:r>
              <a:rPr lang="en-US" sz="24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Echoes must be loud enough to be heard. Those less than thirty (30) decibels (dB) are unlikely to be noticed. </a:t>
            </a:r>
            <a:endParaRPr dirty="0">
              <a:latin typeface="Bahnschrift Light" panose="020B0502040204020203" pitchFamily="34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ts val="3480"/>
              <a:buChar char="•"/>
            </a:pPr>
            <a:r>
              <a:rPr lang="en-US" sz="24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However, when round trip delay exceeds 30 </a:t>
            </a:r>
            <a:r>
              <a:rPr lang="en-US" sz="2400" dirty="0" err="1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ms</a:t>
            </a:r>
            <a:r>
              <a:rPr lang="en-US" sz="24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 and echo strength exceeds 30 dB, echoes become steadily more disruptive.</a:t>
            </a:r>
            <a:endParaRPr dirty="0">
              <a:latin typeface="Bahnschrift Light" panose="020B0502040204020203" pitchFamily="34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ts val="3480"/>
              <a:buChar char="•"/>
            </a:pPr>
            <a:r>
              <a:rPr lang="en-US" sz="24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The acoustic echo, which is also known as a “multipath echo”, is produced by poor voice coupling between the earpiece and microphone in handsets and hands-free devices</a:t>
            </a:r>
            <a:r>
              <a:rPr lang="en-US" sz="1600" dirty="0">
                <a:latin typeface="Bahnschrift Light" panose="020B0502040204020203" pitchFamily="34" charset="0"/>
              </a:rPr>
              <a:t>. </a:t>
            </a:r>
            <a:endParaRPr sz="2400" dirty="0">
              <a:latin typeface="Bahnschrift Light" panose="020B0502040204020203" pitchFamily="34" charset="0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3250" y="2219325"/>
            <a:ext cx="509151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7956767" y="4719964"/>
            <a:ext cx="356707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Block Diagram of comb filter :</a:t>
            </a:r>
            <a:endParaRPr sz="20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187234" y="2109639"/>
            <a:ext cx="60960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Bahnschrift Light" panose="020B0502040204020203" pitchFamily="34" charset="0"/>
                <a:ea typeface="Corbel"/>
                <a:cs typeface="Corbel"/>
                <a:sym typeface="Corbel"/>
              </a:rPr>
              <a:t>Comb filtering occurs when two or more identical audio signals are mixed together with a slight delay between them. </a:t>
            </a:r>
            <a:endParaRPr sz="2400" dirty="0">
              <a:latin typeface="Bahnschrift Light" panose="020B0502040204020203" pitchFamily="34" charset="0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Bahnschrift Light" panose="020B0502040204020203" pitchFamily="34" charset="0"/>
                <a:ea typeface="Corbel"/>
                <a:cs typeface="Corbel"/>
                <a:sym typeface="Corbel"/>
              </a:rPr>
              <a:t>The resulting frequency response graph resembles a comb because frequencies that are in phase sum together, while frequencies that are out of phase cancel.</a:t>
            </a:r>
            <a:endParaRPr sz="2400" dirty="0">
              <a:solidFill>
                <a:schemeClr val="dk1"/>
              </a:solidFill>
              <a:latin typeface="Bahnschrift Light" panose="020B0502040204020203" pitchFamily="34" charset="0"/>
              <a:ea typeface="Corbel"/>
              <a:cs typeface="Corbel"/>
              <a:sym typeface="Corbe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367235" y="590430"/>
            <a:ext cx="10677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Baskerville Old Face" panose="02020602080505020303" pitchFamily="18" charset="0"/>
                <a:ea typeface="Libre Baskerville"/>
                <a:cs typeface="Libre Baskerville"/>
                <a:sym typeface="Libre Baskerville"/>
              </a:rPr>
              <a:t>USE OF COMB FILTER IN ECHO ADDITION SYSTEM</a:t>
            </a:r>
            <a:endParaRPr sz="3200" b="1" dirty="0">
              <a:solidFill>
                <a:schemeClr val="dk1"/>
              </a:solidFill>
              <a:latin typeface="Baskerville Old Face" panose="02020602080505020303" pitchFamily="18" charset="0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>
            <a:spLocks noGrp="1"/>
          </p:cNvSpPr>
          <p:nvPr>
            <p:ph type="title"/>
          </p:nvPr>
        </p:nvSpPr>
        <p:spPr>
          <a:xfrm>
            <a:off x="1577180" y="8128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Baskerville"/>
              <a:buNone/>
            </a:pPr>
            <a:r>
              <a:rPr lang="en-US" dirty="0">
                <a:latin typeface="Bahnschrift Light" panose="020B0502040204020203" pitchFamily="34" charset="0"/>
                <a:ea typeface="Libre Baskerville"/>
                <a:cs typeface="Libre Baskerville"/>
                <a:sym typeface="Libre Baskerville"/>
              </a:rPr>
              <a:t>Frequency Response of Comb Filter</a:t>
            </a:r>
            <a:endParaRPr dirty="0">
              <a:latin typeface="Bahnschrift Light" panose="020B0502040204020203" pitchFamily="34" charset="0"/>
            </a:endParaRPr>
          </a:p>
        </p:txBody>
      </p:sp>
      <p:pic>
        <p:nvPicPr>
          <p:cNvPr id="191" name="Google Shape;191;p8" descr="Magnitude of the frequency response of the comb FIR filter having... |  Download Scientific Diagram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52700" y="2152649"/>
            <a:ext cx="8067675" cy="366712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>
            <a:spLocks noGrp="1"/>
          </p:cNvSpPr>
          <p:nvPr>
            <p:ph type="title"/>
          </p:nvPr>
        </p:nvSpPr>
        <p:spPr>
          <a:xfrm>
            <a:off x="81280" y="-114037"/>
            <a:ext cx="10018713" cy="1507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Baskerville"/>
              <a:buNone/>
            </a:pPr>
            <a:r>
              <a:rPr lang="en-US" sz="4000" dirty="0">
                <a:latin typeface="Baskerville Old Face" panose="02020602080505020303" pitchFamily="18" charset="0"/>
                <a:ea typeface="Libre Baskerville"/>
                <a:cs typeface="Libre Baskerville"/>
                <a:sym typeface="Libre Baskerville"/>
              </a:rPr>
              <a:t>Process of Echo Cancellation </a:t>
            </a:r>
            <a:r>
              <a:rPr lang="en-US" sz="4000" dirty="0"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  <a:endParaRPr dirty="0"/>
          </a:p>
        </p:txBody>
      </p:sp>
      <p:sp>
        <p:nvSpPr>
          <p:cNvPr id="197" name="Google Shape;197;p9"/>
          <p:cNvSpPr txBox="1">
            <a:spLocks noGrp="1"/>
          </p:cNvSpPr>
          <p:nvPr>
            <p:ph type="body" idx="1"/>
          </p:nvPr>
        </p:nvSpPr>
        <p:spPr>
          <a:xfrm>
            <a:off x="1604960" y="3047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B96B10"/>
              </a:buClr>
              <a:buSzPts val="3480"/>
              <a:buChar char="•"/>
            </a:pPr>
            <a:r>
              <a:rPr lang="en-US" sz="2400" dirty="0"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An echo canceller is basically a device that detects and removes the echo of the signal from the far end after it has echoed on the local end’s equipment.</a:t>
            </a:r>
            <a:endParaRPr sz="2400" dirty="0">
              <a:latin typeface="Bahnschrift Light" panose="020B0502040204020203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9" descr="Capture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0875" y="2733303"/>
            <a:ext cx="6496050" cy="3543037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199" name="Google Shape;199;p9"/>
          <p:cNvSpPr txBox="1"/>
          <p:nvPr/>
        </p:nvSpPr>
        <p:spPr>
          <a:xfrm>
            <a:off x="4427220" y="6369051"/>
            <a:ext cx="539559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FIG: A Generic Adaptive Echo Canceller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/>
        </p:nvSpPr>
        <p:spPr>
          <a:xfrm>
            <a:off x="1219200" y="534948"/>
            <a:ext cx="1084072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Baskerville Old Face" panose="02020602080505020303" pitchFamily="18" charset="0"/>
                <a:ea typeface="Libre Baskerville"/>
                <a:cs typeface="Libre Baskerville"/>
                <a:sym typeface="Libre Baskerville"/>
              </a:rPr>
              <a:t>NEED OF THE ADAPTIVE FILTER IN THE ECHO CANCELLATION SYSTEM </a:t>
            </a:r>
            <a:endParaRPr sz="2400" b="1" dirty="0">
              <a:solidFill>
                <a:schemeClr val="dk1"/>
              </a:solidFill>
              <a:latin typeface="Baskerville Old Face" panose="02020602080505020303" pitchFamily="18" charset="0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1702434" y="2121198"/>
            <a:ext cx="9504046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An adaptive filter is a system with a linear filter that has a transfer function controlled by variable parameters and a means to adjust those parameters according to an optimization algorithm</a:t>
            </a:r>
            <a:r>
              <a:rPr lang="en-US" sz="28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.</a:t>
            </a:r>
            <a:endParaRPr sz="28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702434" y="3752414"/>
            <a:ext cx="9199245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The adaptive filter structure employed in acoustic echo cancellation is an FIR filter because of its guaranteed stability. This means that, in order to model a given echo path, the adaptive filter is likely to require thousands of coefficients.</a:t>
            </a:r>
            <a:endParaRPr sz="24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1" descr="A block diagram of an adaptive filter with a separate block for the adaptation process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7665" y="2172971"/>
            <a:ext cx="7101840" cy="3600132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12" name="Google Shape;212;p11"/>
          <p:cNvSpPr txBox="1"/>
          <p:nvPr/>
        </p:nvSpPr>
        <p:spPr>
          <a:xfrm>
            <a:off x="2907665" y="730974"/>
            <a:ext cx="770953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Baskerville Old Face" panose="02020602080505020303" pitchFamily="18" charset="0"/>
                <a:ea typeface="Libre Baskerville"/>
                <a:cs typeface="Libre Baskerville"/>
                <a:sym typeface="Libre Baskerville"/>
              </a:rPr>
              <a:t>Block Diagram of Adaptive Filter</a:t>
            </a:r>
            <a:endParaRPr sz="4000" dirty="0">
              <a:solidFill>
                <a:schemeClr val="dk1"/>
              </a:solidFill>
              <a:latin typeface="Baskerville Old Face" panose="02020602080505020303" pitchFamily="18" charset="0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>
            <a:spLocks noGrp="1"/>
          </p:cNvSpPr>
          <p:nvPr>
            <p:ph type="title"/>
          </p:nvPr>
        </p:nvSpPr>
        <p:spPr>
          <a:xfrm>
            <a:off x="1466852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Baskerville"/>
              <a:buNone/>
            </a:pPr>
            <a:r>
              <a:rPr lang="en-US" dirty="0">
                <a:latin typeface="Baskerville Old Face" panose="02020602080505020303" pitchFamily="18" charset="0"/>
                <a:ea typeface="Libre Baskerville"/>
                <a:cs typeface="Libre Baskerville"/>
                <a:sym typeface="Libre Baskerville"/>
              </a:rPr>
              <a:t>Frequency Response of Adaptive Filter</a:t>
            </a:r>
            <a:endParaRPr dirty="0">
              <a:latin typeface="Baskerville Old Face" panose="02020602080505020303" pitchFamily="18" charset="0"/>
            </a:endParaRPr>
          </a:p>
        </p:txBody>
      </p:sp>
      <p:pic>
        <p:nvPicPr>
          <p:cNvPr id="218" name="Google Shape;218;p12" descr="Acoustic Echo Cancellation (AEC) - MATLAB &amp; Simulin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9823" y="1934210"/>
            <a:ext cx="8315325" cy="407670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" name="Google Shape;223;p13"/>
          <p:cNvGraphicFramePr/>
          <p:nvPr/>
        </p:nvGraphicFramePr>
        <p:xfrm>
          <a:off x="529590" y="1524000"/>
          <a:ext cx="11167100" cy="5334000"/>
        </p:xfrm>
        <a:graphic>
          <a:graphicData uri="http://schemas.openxmlformats.org/drawingml/2006/table">
            <a:tbl>
              <a:tblPr firstRow="1" bandRow="1">
                <a:noFill/>
                <a:tableStyleId>{A762CEFC-1616-48BD-B908-6DFABEC229C5}</a:tableStyleId>
              </a:tblPr>
              <a:tblGrid>
                <a:gridCol w="514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rbel"/>
                        <a:buNone/>
                      </a:pPr>
                      <a:r>
                        <a:rPr lang="en-US" sz="3600" u="none" strike="noStrike" cap="none"/>
                        <a:t>                Method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B96B1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rbel"/>
                        <a:buNone/>
                      </a:pPr>
                      <a:r>
                        <a:rPr lang="en-US" sz="3600" u="none" strike="noStrike" cap="none"/>
                        <a:t>            Specifications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B96B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5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Comb Filter for echo addition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Using comb filter delayed version of a input audio signal is added in the input signal to generate an echo added audio signal.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NLMS(Normalised Least Mean Square) Algorithm for echo cancellation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u="none" strike="noStrike" cap="none"/>
                        <a:t> </a:t>
                      </a: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The normalized LMS,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(NLMS), algorithm utilizes a variable convergence factor that minimizes the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instantaneous error.  Such a convergence factor usually reduces the convergence time 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4" name="Google Shape;224;p13"/>
          <p:cNvSpPr txBox="1"/>
          <p:nvPr/>
        </p:nvSpPr>
        <p:spPr>
          <a:xfrm>
            <a:off x="2033905" y="303530"/>
            <a:ext cx="543115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  <a:latin typeface="Baskerville Old Face" panose="02020602080505020303" pitchFamily="18" charset="0"/>
                <a:ea typeface="Libre Baskerville"/>
                <a:cs typeface="Libre Baskerville"/>
                <a:sym typeface="Libre Baskerville"/>
              </a:rPr>
              <a:t>Algorithm selection :</a:t>
            </a:r>
            <a:endParaRPr dirty="0"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4" descr="Comb_filter_feedforwar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26559" y="817276"/>
            <a:ext cx="4389121" cy="193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4"/>
          <p:cNvSpPr txBox="1"/>
          <p:nvPr/>
        </p:nvSpPr>
        <p:spPr>
          <a:xfrm>
            <a:off x="1777999" y="2907335"/>
            <a:ext cx="10614025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sym typeface="Arial"/>
              </a:rPr>
              <a:t>Step: 1]Input audio signal is taken as x[n]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sym typeface="Arial"/>
              </a:rPr>
              <a:t>2]Delayed version of x[n] with delay k and feedback if α is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sym typeface="Arial"/>
              </a:rPr>
              <a:t>                                       =αx[n-k]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sym typeface="Arial"/>
              </a:rPr>
              <a:t>3]Final output function of a comb filter is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sym typeface="Arial"/>
              </a:rPr>
              <a:t>                                         y[n]=x[n]+αx[n-k]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sym typeface="Arial"/>
              </a:rPr>
              <a:t>Above generated function will be desired echo added signal which will be input function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sym typeface="Arial"/>
              </a:rPr>
              <a:t>for echo cancellation system.</a:t>
            </a:r>
            <a:endParaRPr dirty="0"/>
          </a:p>
        </p:txBody>
      </p:sp>
      <p:sp>
        <p:nvSpPr>
          <p:cNvPr id="231" name="Google Shape;231;p14"/>
          <p:cNvSpPr txBox="1"/>
          <p:nvPr/>
        </p:nvSpPr>
        <p:spPr>
          <a:xfrm>
            <a:off x="1885948" y="130809"/>
            <a:ext cx="591693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Baskerville Old Face" panose="02020602080505020303" pitchFamily="18" charset="0"/>
                <a:ea typeface="Libre Baskerville"/>
                <a:cs typeface="Libre Baskerville"/>
                <a:sym typeface="Libre Baskerville"/>
              </a:rPr>
              <a:t>Echo Addition Algorithm</a:t>
            </a:r>
            <a:r>
              <a:rPr lang="en-US" sz="2400" dirty="0">
                <a:solidFill>
                  <a:schemeClr val="dk1"/>
                </a:solidFill>
                <a:latin typeface="Baskerville Old Face" panose="02020602080505020303" pitchFamily="18" charset="0"/>
                <a:ea typeface="Corbel"/>
                <a:cs typeface="Corbel"/>
                <a:sym typeface="Corbel"/>
              </a:rPr>
              <a:t>:</a:t>
            </a:r>
            <a:endParaRPr dirty="0"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>
            <a:spLocks noGrp="1"/>
          </p:cNvSpPr>
          <p:nvPr>
            <p:ph type="title"/>
          </p:nvPr>
        </p:nvSpPr>
        <p:spPr>
          <a:xfrm>
            <a:off x="1667191" y="340361"/>
            <a:ext cx="10018713" cy="84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Baskerville"/>
              <a:buNone/>
            </a:pPr>
            <a: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  <a:t>Echo Cancellation Algorithm</a:t>
            </a:r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body" idx="1"/>
          </p:nvPr>
        </p:nvSpPr>
        <p:spPr>
          <a:xfrm>
            <a:off x="1819590" y="-457200"/>
            <a:ext cx="10018713" cy="532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64770" algn="l" rtl="0">
              <a:spcBef>
                <a:spcPts val="0"/>
              </a:spcBef>
              <a:spcAft>
                <a:spcPts val="0"/>
              </a:spcAft>
              <a:buClr>
                <a:srgbClr val="B96B10"/>
              </a:buClr>
              <a:buSzPts val="3480"/>
              <a:buNone/>
            </a:pPr>
            <a:endParaRPr lang="en-IN" dirty="0">
              <a:latin typeface="Arial"/>
              <a:ea typeface="Arial"/>
              <a:cs typeface="Arial"/>
              <a:sym typeface="Arial"/>
            </a:endParaRPr>
          </a:p>
          <a:p>
            <a:pPr marL="285750" lvl="0" indent="-64770" algn="l" rtl="0">
              <a:spcBef>
                <a:spcPts val="0"/>
              </a:spcBef>
              <a:spcAft>
                <a:spcPts val="0"/>
              </a:spcAft>
              <a:buClr>
                <a:srgbClr val="B96B10"/>
              </a:buClr>
              <a:buSzPts val="3480"/>
              <a:buNone/>
            </a:pPr>
            <a:endParaRPr lang="en-IN" dirty="0">
              <a:latin typeface="Arial"/>
              <a:ea typeface="Arial"/>
              <a:cs typeface="Arial"/>
              <a:sym typeface="Arial"/>
            </a:endParaRPr>
          </a:p>
          <a:p>
            <a:pPr marL="285750" lvl="0" indent="-64770" algn="l" rtl="0">
              <a:spcBef>
                <a:spcPts val="0"/>
              </a:spcBef>
              <a:spcAft>
                <a:spcPts val="0"/>
              </a:spcAft>
              <a:buClr>
                <a:srgbClr val="B96B10"/>
              </a:buClr>
              <a:buSzPts val="348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ts val="348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Steps :</a:t>
            </a: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   1] Firstly the transfer function of the filter is unknown. In NLMS algo       estimation of transfer function of the filter is done.</a:t>
            </a: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  2]</a:t>
            </a:r>
            <a:endParaRPr dirty="0"/>
          </a:p>
          <a:p>
            <a:pPr marL="285750" lvl="0" indent="-6477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ts val="348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85750" lvl="0" indent="-64770" algn="l" rtl="0">
              <a:spcBef>
                <a:spcPts val="1080"/>
              </a:spcBef>
              <a:spcAft>
                <a:spcPts val="0"/>
              </a:spcAft>
              <a:buClr>
                <a:srgbClr val="B96B10"/>
              </a:buClr>
              <a:buSzPts val="3480"/>
              <a:buNone/>
            </a:pPr>
            <a:endParaRPr dirty="0"/>
          </a:p>
        </p:txBody>
      </p:sp>
      <p:pic>
        <p:nvPicPr>
          <p:cNvPr id="238" name="Google Shape;238;p15" descr="Capture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278" y="3389949"/>
            <a:ext cx="5334424" cy="263172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39" name="Google Shape;239;p15"/>
          <p:cNvSpPr txBox="1"/>
          <p:nvPr/>
        </p:nvSpPr>
        <p:spPr>
          <a:xfrm>
            <a:off x="5356224" y="6261853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Fig:  NLMS Algorithm </a:t>
            </a: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40" name="Google Shape;24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80" y="3389949"/>
            <a:ext cx="6184675" cy="2631725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/>
        </p:nvSpPr>
        <p:spPr>
          <a:xfrm>
            <a:off x="1808480" y="291515"/>
            <a:ext cx="989584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3] </a:t>
            </a:r>
            <a:r>
              <a:rPr lang="en-US" sz="24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Output signal from the diagram is  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where, r is echo , v is near end speed signal, r^ is echo estimate , e is error signal</a:t>
            </a:r>
            <a:endParaRPr sz="2000" dirty="0">
              <a:solidFill>
                <a:schemeClr val="dk1"/>
              </a:solidFill>
              <a:latin typeface="Bahnschrift Light" panose="020B0502040204020203" pitchFamily="34" charset="0"/>
              <a:sym typeface="Arial"/>
            </a:endParaRPr>
          </a:p>
        </p:txBody>
      </p:sp>
      <p:pic>
        <p:nvPicPr>
          <p:cNvPr id="246" name="Google Shape;246;p16" descr="w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9681" y="1286025"/>
            <a:ext cx="3027680" cy="63556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47" name="Google Shape;247;p16"/>
          <p:cNvSpPr txBox="1"/>
          <p:nvPr/>
        </p:nvSpPr>
        <p:spPr>
          <a:xfrm>
            <a:off x="1808480" y="2441118"/>
            <a:ext cx="9062720" cy="495520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076" t="-982" r="-147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  <p:pic>
        <p:nvPicPr>
          <p:cNvPr id="248" name="Google Shape;248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39155" y="2373084"/>
            <a:ext cx="3138170" cy="63556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249" name="Google Shape;249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21622" y="6014035"/>
            <a:ext cx="2098358" cy="55245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/>
        </p:nvSpPr>
        <p:spPr>
          <a:xfrm>
            <a:off x="1503680" y="310495"/>
            <a:ext cx="95711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,   aaaaa  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5400" y="387597"/>
            <a:ext cx="2239828" cy="530979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256" name="Google Shape;25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2121" y="352940"/>
            <a:ext cx="2159000" cy="61226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57" name="Google Shape;257;p17"/>
          <p:cNvSpPr txBox="1"/>
          <p:nvPr/>
        </p:nvSpPr>
        <p:spPr>
          <a:xfrm>
            <a:off x="1330960" y="1349404"/>
            <a:ext cx="11541760" cy="5386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vector of R                and p   a   and                                 respectively</a:t>
            </a: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Hence,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Updating formula is, 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7] In NLMS factor  u(k)  must be chosen with the objective of achieving a faster convergence, so, value is given by,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58" name="Google Shape;258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12758" y="1357048"/>
            <a:ext cx="1880052" cy="606762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259" name="Google Shape;259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8146" y="1349404"/>
            <a:ext cx="1769746" cy="633303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260" name="Google Shape;260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77478" y="2180066"/>
            <a:ext cx="4733925" cy="1645166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261" name="Google Shape;261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60358" y="4050468"/>
            <a:ext cx="3055846" cy="704016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262" name="Google Shape;262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00584" y="5830590"/>
            <a:ext cx="2812936" cy="904904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/>
        </p:nvSpPr>
        <p:spPr>
          <a:xfrm>
            <a:off x="1534161" y="515744"/>
            <a:ext cx="10292080" cy="37856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47" t="-1287" r="-651" b="-25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orbel"/>
                <a:ea typeface="Corbel"/>
                <a:cs typeface="Corbel"/>
                <a:sym typeface="Corbel"/>
              </a:rPr>
              <a:t> </a:t>
            </a:r>
            <a:endParaRPr dirty="0"/>
          </a:p>
        </p:txBody>
      </p:sp>
      <p:pic>
        <p:nvPicPr>
          <p:cNvPr id="268" name="Google Shape;268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5557521" y="4449430"/>
            <a:ext cx="4358640" cy="161036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269" name="Google Shape;269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51120" y="1148080"/>
            <a:ext cx="3749039" cy="90932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"/>
          <p:cNvSpPr txBox="1"/>
          <p:nvPr/>
        </p:nvSpPr>
        <p:spPr>
          <a:xfrm>
            <a:off x="1803400" y="332422"/>
            <a:ext cx="604012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Baskerville Old Face" panose="02020602080505020303" pitchFamily="18" charset="0"/>
                <a:ea typeface="Libre Baskerville"/>
                <a:cs typeface="Libre Baskerville"/>
                <a:sym typeface="Libre Baskerville"/>
              </a:rPr>
              <a:t>Tabular form of NLMS Algorithm:</a:t>
            </a:r>
            <a:endParaRPr sz="3200" dirty="0">
              <a:latin typeface="Baskerville Old Face" panose="02020602080505020303" pitchFamily="18" charset="0"/>
            </a:endParaRPr>
          </a:p>
        </p:txBody>
      </p:sp>
      <p:pic>
        <p:nvPicPr>
          <p:cNvPr id="275" name="Google Shape;275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56130" y="1257618"/>
            <a:ext cx="8648065" cy="4838382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94901"/>
          </a:schemeClr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/>
          <p:nvPr/>
        </p:nvSpPr>
        <p:spPr>
          <a:xfrm>
            <a:off x="354175" y="438442"/>
            <a:ext cx="1166500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92D05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 dirty="0">
                <a:solidFill>
                  <a:srgbClr val="0C0C0C"/>
                </a:solidFill>
                <a:latin typeface="Bahnschrift Light" panose="020B0502040204020203" pitchFamily="34" charset="0"/>
                <a:ea typeface="Corbel"/>
                <a:cs typeface="Corbel"/>
                <a:sym typeface="Corbel"/>
              </a:rPr>
              <a:t>REFERENCES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92D05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81" name="Google Shape;281;p20"/>
          <p:cNvCxnSpPr/>
          <p:nvPr/>
        </p:nvCxnSpPr>
        <p:spPr>
          <a:xfrm rot="10800000" flipH="1">
            <a:off x="4246878" y="1101403"/>
            <a:ext cx="3879601" cy="1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2" name="Google Shape;282;p20"/>
          <p:cNvSpPr txBox="1"/>
          <p:nvPr/>
        </p:nvSpPr>
        <p:spPr>
          <a:xfrm>
            <a:off x="1889760" y="1601614"/>
            <a:ext cx="9042399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C0C0C"/>
                </a:solidFill>
                <a:latin typeface="Bahnschrift Light" panose="020B0502040204020203" pitchFamily="34" charset="0"/>
                <a:sym typeface="Arial"/>
              </a:rPr>
              <a:t>YouTube Videos : 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58296"/>
                </a:solidFill>
                <a:latin typeface="Bahnschrift Light" panose="020B0502040204020203" pitchFamily="34" charset="0"/>
                <a:sym typeface="Arial"/>
              </a:rPr>
              <a:t>https://youtu.be/xpl2AYlvm0k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58296"/>
                </a:solidFill>
                <a:latin typeface="Bahnschrift Light" panose="020B0502040204020203" pitchFamily="34" charset="0"/>
                <a:sym typeface="Arial"/>
              </a:rPr>
              <a:t>  https://youtu.be/Wdph4eLv6zw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92D050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92D050"/>
                </a:solidFill>
                <a:latin typeface="Bahnschrift Light" panose="020B0502040204020203" pitchFamily="34" charset="0"/>
                <a:sym typeface="Arial"/>
              </a:rPr>
              <a:t> </a:t>
            </a:r>
            <a:r>
              <a:rPr lang="en-US" sz="2400" dirty="0">
                <a:solidFill>
                  <a:srgbClr val="0C0C0C"/>
                </a:solidFill>
                <a:latin typeface="Bahnschrift Light" panose="020B0502040204020203" pitchFamily="34" charset="0"/>
                <a:sym typeface="Arial"/>
              </a:rPr>
              <a:t>Simple Echo Cancellation :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58296"/>
                </a:solidFill>
                <a:latin typeface="Bahnschrift Light" panose="020B0502040204020203" pitchFamily="34" charset="0"/>
                <a:sym typeface="Arial"/>
              </a:rPr>
              <a:t>http://www.dip.ee.uct.ac.za/~nicolls/lectures/eee401f/projects/project05_2up.pdf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92D050"/>
              </a:solidFill>
              <a:latin typeface="Bahnschrift Light" panose="020B0502040204020203" pitchFamily="34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C0C0C"/>
                </a:solidFill>
                <a:latin typeface="Bahnschrift Light" panose="020B0502040204020203" pitchFamily="34" charset="0"/>
                <a:sym typeface="Arial"/>
              </a:rPr>
              <a:t>2018 IJERT Research paper :</a:t>
            </a:r>
            <a:endParaRPr dirty="0">
              <a:latin typeface="Bahnschrift Light" panose="020B0502040204020203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58296"/>
                </a:solidFill>
                <a:latin typeface="Bahnschrift Light" panose="020B0502040204020203" pitchFamily="34" charset="0"/>
                <a:sym typeface="Arial"/>
              </a:rPr>
              <a:t> https://www.ijert.org/research/a-comparison-of-nlms-pnlms-algorithms-for-echo-cancellation-IJERTV7IS060080.pdf</a:t>
            </a:r>
            <a:endParaRPr sz="2400" b="1" dirty="0">
              <a:solidFill>
                <a:srgbClr val="358296"/>
              </a:solidFill>
              <a:latin typeface="Bahnschrift Light" panose="020B0502040204020203" pitchFamily="34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"/>
          <p:cNvSpPr txBox="1"/>
          <p:nvPr/>
        </p:nvSpPr>
        <p:spPr>
          <a:xfrm>
            <a:off x="1419225" y="2535734"/>
            <a:ext cx="885825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r>
              <a:rPr lang="en-US" sz="7200" dirty="0">
                <a:solidFill>
                  <a:schemeClr val="dk1"/>
                </a:solidFill>
                <a:latin typeface="Bahnschrift Light" panose="020B0502040204020203" pitchFamily="34" charset="0"/>
                <a:sym typeface="Arial"/>
              </a:rPr>
              <a:t>THANK YOU</a:t>
            </a:r>
            <a:endParaRPr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</Words>
  <Application>Microsoft Office PowerPoint</Application>
  <PresentationFormat>Widescreen</PresentationFormat>
  <Paragraphs>125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Corbel</vt:lpstr>
      <vt:lpstr>Libre Baskerville</vt:lpstr>
      <vt:lpstr>Arial</vt:lpstr>
      <vt:lpstr>Bahnschrift Light</vt:lpstr>
      <vt:lpstr>Baskerville Old Face</vt:lpstr>
      <vt:lpstr>Parallax</vt:lpstr>
      <vt:lpstr>ECHO ADDITION AND REMOVAL  IN AUDIO SIGNALS  USING MATLAB </vt:lpstr>
      <vt:lpstr>PowerPoint Presentation</vt:lpstr>
      <vt:lpstr>PowerPoint Presentation</vt:lpstr>
      <vt:lpstr>PowerPoint Presentation</vt:lpstr>
      <vt:lpstr>What is an Echo?</vt:lpstr>
      <vt:lpstr>PowerPoint Presentation</vt:lpstr>
      <vt:lpstr>PowerPoint Presentation</vt:lpstr>
      <vt:lpstr>Frequency Response of Comb Filter</vt:lpstr>
      <vt:lpstr>Process of Echo Cancellation :</vt:lpstr>
      <vt:lpstr>PowerPoint Presentation</vt:lpstr>
      <vt:lpstr>PowerPoint Presentation</vt:lpstr>
      <vt:lpstr>Frequency Response of Adaptive Filter</vt:lpstr>
      <vt:lpstr>PowerPoint Presentation</vt:lpstr>
      <vt:lpstr>PowerPoint Presentation</vt:lpstr>
      <vt:lpstr>Echo Cancellation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 ADDITION AND REMOVAL  IN AUDIO SIGNALS  USING MATLAB </dc:title>
  <dc:creator>Divya</dc:creator>
  <cp:lastModifiedBy>Divya</cp:lastModifiedBy>
  <cp:revision>30</cp:revision>
  <dcterms:created xsi:type="dcterms:W3CDTF">2021-04-18T08:06:37Z</dcterms:created>
  <dcterms:modified xsi:type="dcterms:W3CDTF">2021-04-20T05:21:39Z</dcterms:modified>
</cp:coreProperties>
</file>